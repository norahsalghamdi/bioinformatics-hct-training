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757" r:id="rId19"/>
    <p:sldId id="741" r:id="rId20"/>
    <p:sldId id="758" r:id="rId21"/>
    <p:sldId id="783" r:id="rId22"/>
    <p:sldId id="784" r:id="rId23"/>
    <p:sldId id="785" r:id="rId24"/>
    <p:sldId id="786" r:id="rId25"/>
    <p:sldId id="742" r:id="rId26"/>
    <p:sldId id="787" r:id="rId27"/>
    <p:sldId id="788" r:id="rId28"/>
    <p:sldId id="789" r:id="rId29"/>
    <p:sldId id="790" r:id="rId30"/>
    <p:sldId id="280" r:id="rId31"/>
    <p:sldId id="281" r:id="rId32"/>
    <p:sldId id="282" r:id="rId33"/>
    <p:sldId id="283" r:id="rId34"/>
    <p:sldId id="791" r:id="rId35"/>
    <p:sldId id="792" r:id="rId36"/>
    <p:sldId id="288" r:id="rId37"/>
    <p:sldId id="289" r:id="rId38"/>
    <p:sldId id="290" r:id="rId39"/>
    <p:sldId id="793" r:id="rId40"/>
    <p:sldId id="794" r:id="rId41"/>
    <p:sldId id="743" r:id="rId42"/>
    <p:sldId id="273" r:id="rId43"/>
    <p:sldId id="274" r:id="rId44"/>
    <p:sldId id="275" r:id="rId45"/>
    <p:sldId id="276" r:id="rId46"/>
    <p:sldId id="277" r:id="rId47"/>
    <p:sldId id="278" r:id="rId48"/>
    <p:sldId id="279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6947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Relationship Id="rId3" Type="http://schemas.openxmlformats.org/officeDocument/2006/relationships/hyperlink" Target="https://bioconnector.github.io/bims8382/r-rnaseq-airway.html" TargetMode="Externa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linkClick r:id="rId3"/>
              </a:rPr>
              <a:t>https://bioconnector.github.io/bims8382/r-rnaseq-airway.html</a:t>
            </a:r>
            <a:endParaRPr lang="en-US"/>
          </a:p>
          <a:p>
            <a:endParaRPr lang="en-US"/>
          </a:p>
          <a:p>
            <a:endParaRPr lang="en-US"/>
          </a:p>
          <a:p>
            <a:r>
              <a:rPr lang="en-US">
                <a:solidFill>
                  <a:srgbClr val="337AB7"/>
                </a:solidFill>
                <a:highlight>
                  <a:srgbClr val="FFFFFF"/>
                </a:highlight>
              </a:rPr>
              <a:t> </a:t>
            </a:r>
            <a:r>
              <a:rPr lang="en-US">
                <a:solidFill>
                  <a:srgbClr val="404040"/>
                </a:solidFill>
                <a:highlight>
                  <a:srgbClr val="FFFFFF"/>
                </a:highlight>
              </a:rPr>
              <a:t>An MA plot shows the average expression on the X-axis and the log fold change on the y-axis. </a:t>
            </a:r>
            <a:endParaRPr lang="en-US">
              <a:solidFill>
                <a:srgbClr val="000000"/>
              </a:solidFill>
            </a:endParaRPr>
          </a:p>
          <a:p>
            <a:r>
              <a:rPr lang="en-US">
                <a:solidFill>
                  <a:srgbClr val="404040"/>
                </a:solidFill>
                <a:highlight>
                  <a:srgbClr val="FFFFFF"/>
                </a:highlight>
              </a:rPr>
              <a:t>A volcano plot shows the log fold change on the X-axis, and the −log10 of the p-value on the Y-axis (the more significant the p-value, the larger the −log10 of that value will be).</a:t>
            </a:r>
            <a:endParaRPr lang="en-US"/>
          </a:p>
          <a:p>
            <a:endParaRPr lang="en-US">
              <a:solidFill>
                <a:srgbClr val="404040"/>
              </a:solidFill>
              <a:highlight>
                <a:srgbClr val="FFFFFF"/>
              </a:highlight>
            </a:endParaRPr>
          </a:p>
          <a:p>
            <a:r>
              <a:rPr lang="en-US">
                <a:solidFill>
                  <a:srgbClr val="404040"/>
                </a:solidFill>
                <a:highlight>
                  <a:srgbClr val="FFFFFF"/>
                </a:highlight>
              </a:rPr>
              <a:t> Use a log10-scaled x-axis, color-code by whether the gene is significant, </a:t>
            </a:r>
            <a:endParaRPr lang="en-US"/>
          </a:p>
          <a:p>
            <a:r>
              <a:rPr lang="en-US"/>
              <a:t>The </a:t>
            </a:r>
            <a:r>
              <a:rPr lang="en-US" b="1"/>
              <a:t>gray points</a:t>
            </a:r>
            <a:r>
              <a:rPr lang="en-US"/>
              <a:t> are the genes that are </a:t>
            </a:r>
            <a:r>
              <a:rPr lang="en-US" b="1"/>
              <a:t>not called statistically significant</a:t>
            </a:r>
            <a:r>
              <a:rPr lang="en-US"/>
              <a:t> (i.e., they </a:t>
            </a:r>
            <a:r>
              <a:rPr lang="en-US" i="1"/>
              <a:t>don’t pass the significance cutoff</a:t>
            </a:r>
            <a:r>
              <a:rPr lang="en-US"/>
              <a:t>, usually </a:t>
            </a:r>
            <a:r>
              <a:rPr lang="en-US" b="1"/>
              <a:t>adjusted p-value / FDR &gt; 0.05</a:t>
            </a:r>
            <a:r>
              <a:rPr lang="en-US"/>
              <a:t>). In most DE pipelines, the plot colors genes like this:</a:t>
            </a:r>
          </a:p>
          <a:p>
            <a:pPr marL="171450" indent="-171450">
              <a:buFont typeface="Arial"/>
              <a:buChar char="•"/>
            </a:pPr>
            <a:r>
              <a:rPr lang="en-US" b="1"/>
              <a:t>Colored (e.g., blue/red)</a:t>
            </a:r>
            <a:r>
              <a:rPr lang="en-US"/>
              <a:t> = </a:t>
            </a:r>
            <a:r>
              <a:rPr lang="en-US" b="1"/>
              <a:t>significant DE genes</a:t>
            </a:r>
            <a:r>
              <a:rPr lang="en-US"/>
              <a:t> (</a:t>
            </a:r>
            <a:r>
              <a:rPr lang="en-US" err="1"/>
              <a:t>padj</a:t>
            </a:r>
            <a:r>
              <a:rPr lang="en-US"/>
              <a:t> ≤ threshold)</a:t>
            </a:r>
          </a:p>
          <a:p>
            <a:pPr marL="171450" indent="-171450">
              <a:buFont typeface="Arial"/>
              <a:buChar char="•"/>
            </a:pPr>
            <a:r>
              <a:rPr lang="en-US" b="1"/>
              <a:t>Gray</a:t>
            </a:r>
            <a:r>
              <a:rPr lang="en-US"/>
              <a:t> = </a:t>
            </a:r>
            <a:r>
              <a:rPr lang="en-US" b="1"/>
              <a:t>not significant</a:t>
            </a:r>
            <a:r>
              <a:rPr lang="en-US"/>
              <a:t> (</a:t>
            </a:r>
            <a:r>
              <a:rPr lang="en-US" err="1"/>
              <a:t>padj</a:t>
            </a:r>
            <a:r>
              <a:rPr lang="en-US"/>
              <a:t> &gt; threshold or sometimes filtered)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9E21F-868C-4213-BFE9-6DE31D6B493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5655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A832-2B3B-5356-0396-DD8C0B8F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833A4-C1FC-F674-F977-AB90E8EBB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663EC-EBB1-39FA-5A54-86388F433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9905-01E1-A6F9-E3D8-AC262A3EB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7136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0601E-4AE8-03B5-74FF-B25AF782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3CAB6-F1DE-8891-978B-D325395BF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AE8B67-4DCE-92D6-3D73-80A2FDA04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F7124-6953-709F-DB7B-BC4FDAFC8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59311-1FBE-47EE-04D8-3A0B006E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704254-BB75-D17E-6FB6-EB7A5DDD61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2978" y="0"/>
            <a:ext cx="1716938" cy="96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871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530DE-77B0-E5F9-EAAC-2B572AB16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832123-AC80-2915-6244-0677210442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C6F42-0A58-EDA4-5D8F-58B7DC77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06 Feb 2026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D3D-9410-F065-53F3-CB86FE770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lang="en-US"/>
            </a:lvl1pPr>
          </a:lstStyle>
          <a:p>
            <a:r>
              <a:rPr lang="en-US"/>
              <a:t>KAUST Bioinformatics Platform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5E86B-EFF4-FAF5-5FD8-00C93DB36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52874-592A-336A-52AF-BC776C8559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9524" y="0"/>
            <a:ext cx="1602476" cy="898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03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EB861-A7E7-725A-1AB2-552E0AB21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3DA608-F8D6-64B0-1AD3-A57F361E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BB5201-763F-4C52-1E22-D21A8F82A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996EBE-1083-854E-D32E-3F300F1E6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05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457200"/>
            <a:ext cx="2011680" cy="54864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01200" y="1280160"/>
            <a:ext cx="2011680" cy="54864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0" y="2103120"/>
            <a:ext cx="2011680" cy="54864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0" y="2926080"/>
            <a:ext cx="2011680" cy="54864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601200" y="3749040"/>
            <a:ext cx="2011680" cy="54864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0" y="4572000"/>
            <a:ext cx="2011680" cy="54864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3152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— Differential Expression Analysis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41148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Colleges of Technology Cohort  |  KAUST Academy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Norah AlGhamdi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 to Day 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 loaded a real airway RNA-seq count matrix and saw the conditions clearly separate on PCA.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37160" cy="2194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Yesterday's mystery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880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 loaded a real airway RNA-seq count matrix (4 control + 4 dex-treated samples) and saw on PCA that the two conditions clearly separate — but we have not yet asked which specific genes drive that separation.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794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we'll learn the tool that lets us COMPARE conditions and find which genes actually change. Then next weekend, scRNA-seq adds another dimension: not just WHICH genes change, but in WHICH cell types.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differential expression — finding genes that DIFFER between conditions.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Today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1554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differential expression?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0574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find genes that change between two groups (e.g., healthy vs diseased).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5544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78040" y="1554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PyDESeq2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20574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Python version of DESeq2 — the gold-standard DE tool.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3840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 results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3434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 changes, p-values, and FDR — what each one means.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72200" y="3840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178040" y="3840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volcano plot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78040" y="43434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iconic chart in RNA-seq — see all your DE genes at once.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– 3:15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63240" y="137160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 · Recap Day 5 · Today's plan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883664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188366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3:15 – 4:00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63240" y="1883664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What is differential expression?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395728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39572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 – 4:30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63240" y="23957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Statistics, fold changes, FDR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907792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29077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 – 5:00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63240" y="290779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Volcano plots and how to read them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9856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341985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 – 6:00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63240" y="341985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Browse: explore an RNA-seq study on GEO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11064240" cy="43891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39319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 – 7:00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063240" y="393192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43984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5800" y="44439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7:00 – 7:45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063240" y="4443984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PyDESeq2 on Control vs Dex airway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956048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7:45 – 8:30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063240" y="495604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build a volcano plot, find DE genes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468112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85800" y="54681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8:30 – 9:00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063240" y="546811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· Preview of Weekend 4 (the scRNA reveal!)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Expression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genes that change between conditions.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Differential Expression?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109728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1005840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expression analysis 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one question:\n\n</a:t>
            </a:r>
            <a:r>
              <a:rPr lang="en-US" sz="2000" b="1" i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genes are expressed at different levels between two groups of samples?"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comparisons: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35661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09728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vs Healthy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26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genes go wrong in cancer? In diabetes? In Alzheimer's?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661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43400" y="4023360"/>
            <a:ext cx="109728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17720" y="4114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vs Untreated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genes does this drug actually change?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4023360"/>
            <a:ext cx="35661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38160" y="4023360"/>
            <a:ext cx="109728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0" y="4114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type A vs 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0" y="4526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 brain cell different from a muscle cell?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Control airway cells vs Dexamethasone-treated airway cells — what genes change?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 Question, Visualized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measuring one gene across many samples in two conditions: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that is NOT differentially expressed: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71600" y="2875595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103120" y="2840062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34640" y="3023371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3069781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58000" y="2987518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589520" y="3028360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3036211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052560" y="3071362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2880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Control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E3E"/>
                </a:solidFill>
              </a:rPr>
              <a:t>Dex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749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that IS differentially expressed (UP in disease):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11064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71600" y="5317219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03120" y="5289052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34640" y="5267186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566160" y="531119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858000" y="4408907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589520" y="4427857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321040" y="4640094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052560" y="4451635"/>
            <a:ext cx="274320" cy="27432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14400" y="5303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Control (low)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4434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E3E"/>
                </a:solidFill>
              </a:rPr>
              <a:t>Dex (high)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analysis tells us: 'this gene is significantly UP in Dex'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Need Statistics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looking at means isn't enough. We need statistics to know if a difference is REAL or random noise.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09728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variation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from different people naturally differ. We need to separate REAL differences from this noise.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2860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109728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samples vs many genes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20,000+ genes but typically have only 10-50 samples. We need stats to handle this.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109728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testing problem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test 20,000 genes, you'll get hundreds 'significant' by pure chance. We need to correct for that.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41148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72200" y="4114800"/>
            <a:ext cx="109728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4652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size + significance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6520" y="47548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change can be significant in lots of samples; a big change can be insignificant in few. We need both.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Per Gene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analysis gives you two numbers for every gene. Together they tell the whole story.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4068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 Change (log2FC)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did it change?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0040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Log2 of the ratio between groups.\n\n• log2FC = +1 → gene is 2× higher in Dex\n• log2FC = +2 → gene is 4× higher\n• log2FC = -1 → gene is 2× lower in Dex\n• log2FC = 0 → no change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219456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44068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p-value (padj)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46520" y="2606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CONFIDENT it changed?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320040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difference is by chance, corrected for testing many genes.\n\n• padj &lt; 0.05 → significant ✓\n• padj &lt; 0.01 → strongly significant\n• padj &gt; 0.05 → not significant ✗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"Adjusted" P-value?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test 20,000 genes at p &lt; 0.05, you'd expect about 1,000 false positives just by chance.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1463040"/>
          </a:xfrm>
          <a:prstGeom prst="rect">
            <a:avLst/>
          </a:prstGeom>
          <a:solidFill>
            <a:srgbClr val="05445E"/>
          </a:solidFill>
          <a:ln w="12700">
            <a:solidFill>
              <a:srgbClr val="0544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20,000 genes  ×  5% chance of false positive  =  1,000 false hits!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we ADJUST p-values for multiple testing.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663440"/>
            <a:ext cx="106984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</a:rPr>
              <a:t>FDR (False Discovery Rate)</a:t>
            </a:r>
            <a:r>
              <a:rPr lang="en-US" sz="1400" dirty="0">
                <a:solidFill>
                  <a:srgbClr val="1E293B"/>
                </a:solidFill>
              </a:rPr>
              <a:t> = the fraction of your 'significant' results expected to be wrong.\n\n</a:t>
            </a:r>
            <a:r>
              <a:rPr lang="en-US" sz="1400" b="1" i="1" dirty="0">
                <a:solidFill>
                  <a:srgbClr val="05445E"/>
                </a:solidFill>
              </a:rPr>
              <a:t>Standard cutoff: padj &lt; 0.05 means at most 5% of your hits are false.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PyDESeq2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Python version of the most-used DE tool in biology.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DESeq2 — The Gold Standard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109728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1005840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DESeq2 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most-cited differential expression tool ever published. It came out in R, but </a:t>
            </a:r>
            <a:r>
              <a:rPr lang="en-US" sz="18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PyDESeq2 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algorithm to Python.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70K+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of the original DESeq2 paper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43400" y="35661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2628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nearly every RNA-seq study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38160" y="35661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32104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PyDESeq2 — works in Colab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PyDESeq2 Does (Simply)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steps. Same as the R version.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731520" cy="731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463040" y="2103120"/>
            <a:ext cx="10149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91640" y="224028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counts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91640" y="260604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for differences in sequencing depth between samples.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731520" cy="731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429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1463040" y="3291840"/>
            <a:ext cx="10149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691640" y="34290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variation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37947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out how much each gene normally varies — borrow strength across genes.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1463040" y="4480560"/>
            <a:ext cx="10149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91640" y="46177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gene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91640" y="498348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gene: is the difference between groups bigger than the noise?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Python: 4 lines of code. PyDESeq2 does all the math for you.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— A Results Table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PyDESeq2 gives you a table with one row per gene. Here's what it looks like: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11064240" cy="2743200"/>
          </a:xfrm>
          <a:prstGeom prst="rect">
            <a:avLst/>
          </a:prstGeom>
          <a:solidFill>
            <a:srgbClr val="05445E"/>
          </a:solidFill>
          <a:ln w="12700">
            <a:solidFill>
              <a:srgbClr val="0544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       baseMean   log2FoldChange   pvalue       padj      Verdict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62432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182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FKBP5      9420.5         +3.85       3.2e-15    1.1e-12   UP   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00837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DUSP1      2542.1         +2.91       4.7e-10    8.3e-08   UP   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39242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3E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KLF15       182.3          +3.12       1.5e-08    2.3e-06   UP   ↑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7764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3E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PER1        854.6          +2.43       4.7e-07    8.2e-05   UP   ↑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1605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ACTB       18234.0         +0.05       0.92       0.99       — (housekeeping)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FKBP5, DUSP1, KLF15, PER1 go UP in dex (classic glucocorticoid response). ACTB stays flat (housekeeping).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has the two key numbers — log2FoldChange and padj — plus context columns.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 Plots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iconic chart in RNA-seq analysis.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Volcano Plot?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volcano plot puts every gene on one chart. You see all your DE results in one glance.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103120"/>
            <a:ext cx="10332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0" y="2743200"/>
            <a:ext cx="94183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0" y="2286000"/>
            <a:ext cx="0" cy="2743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2286000"/>
            <a:ext cx="0" cy="2743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164059" y="3677110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118865" y="3768990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209888" y="4517670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309552" y="4874120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4296" y="4114158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387487" y="4351697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40847" y="4663814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23309" y="4898809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699310" y="4283367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74301" y="4441918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44716" y="3953385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821339" y="4419617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37939" y="4722567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34681" y="4351284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468526" y="4775924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937840" y="3784616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943831" y="4552424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844090" y="5028601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506131" y="5046964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057795" y="4786029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183494" y="4087755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827386" y="4828247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468515" y="3721290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923854" y="4494851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834702" y="3988202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785795" y="3844532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0066486" y="4152346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658473" y="4758696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731557" y="4072261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111377" y="4739134"/>
            <a:ext cx="109728" cy="10972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202885" y="2352275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2676332" y="2477622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916007" y="2687682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696343" y="2441337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521505" y="2470686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439000" y="2470252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969313" y="2539231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782639" y="2569101"/>
            <a:ext cx="164592" cy="164592"/>
          </a:xfrm>
          <a:prstGeom prst="ellipse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609509" y="2322494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9153453" y="2369740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9873413" y="2742776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9852339" y="2521295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9895451" y="2355486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9601434" y="2380470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97280" y="5349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82CE"/>
                </a:solidFill>
              </a:rPr>
              <a:t>← DOWN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01200" y="5349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3E3E"/>
                </a:solidFill>
              </a:rPr>
              <a:t>UP →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14400" y="56692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log2 Fold Change →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 rot="-5400000">
            <a:off x="365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← -log10(padj)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1440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5445E"/>
                </a:solidFill>
              </a:rPr>
              <a:t>Significant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1440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Not significant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gene. Look in the top-left (DOWN) and top-right (UP) corners — those are your significant DE genes.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a Volcano Plot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10972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 corner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that are SIGNIFICANTLY DOWN in your test condition. Highly negative log2FC + low padj.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55448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172200" y="1554480"/>
            <a:ext cx="10972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465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corner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240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that are SIGNIFICANTLY UP in your test condition. Highly positive log2FC + low padj.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10972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area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526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that are NOT significant — high p-values, ignore these.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72200" y="3840480"/>
            <a:ext cx="10972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4652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top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46520" y="4526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but small effect — not very interesting biologically.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 papers, the most interesting DE genes are usually labeled by name on the volcano plot.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28865-0B4F-1639-8B79-C8BA83E1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Visualize the result: 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B6A8D-DC95-66F3-348F-C3159F9ED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3B18-BA92-5C64-1BF2-06469AC2C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CE46C-2584-212F-13A7-98CEDAD0A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18</a:t>
            </a:fld>
            <a:endParaRPr lang="en-US"/>
          </a:p>
        </p:txBody>
      </p:sp>
      <p:pic>
        <p:nvPicPr>
          <p:cNvPr id="11" name="Content Placeholder 10" descr="A graph of a volcano plot&#10;&#10;AI-generated content may be incorrect.">
            <a:extLst>
              <a:ext uri="{FF2B5EF4-FFF2-40B4-BE49-F238E27FC236}">
                <a16:creationId xmlns:a16="http://schemas.microsoft.com/office/drawing/2014/main" id="{36590443-624C-23FA-BAB9-732A036652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5585" y="1739034"/>
            <a:ext cx="6044876" cy="43513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1B0A7-3E59-AC1F-5517-5E2252D8F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598" y="1687224"/>
            <a:ext cx="6196446" cy="4401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764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06035-C7DF-2717-86B5-ECD0F8BFB1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5964" y="846484"/>
            <a:ext cx="9712036" cy="238760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chemeClr val="accent2">
                    <a:lumMod val="49000"/>
                  </a:schemeClr>
                </a:solidFill>
                <a:latin typeface="ADLaM Display"/>
                <a:ea typeface="+mj-lt"/>
                <a:cs typeface="+mj-lt"/>
              </a:rPr>
              <a:t>Towards Biological Meaning:</a:t>
            </a:r>
            <a:r>
              <a:rPr lang="en-US" sz="4800" b="1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 </a:t>
            </a:r>
            <a:br>
              <a:rPr lang="en-US" sz="4800" b="1">
                <a:latin typeface="ADLaM Display"/>
              </a:rPr>
            </a:br>
            <a:r>
              <a:rPr lang="en-US" sz="4800" b="1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Visualization &amp; Reporting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29932B-3776-83F2-0A85-7C6D67EB9E6B}"/>
              </a:ext>
            </a:extLst>
          </p:cNvPr>
          <p:cNvSpPr txBox="1"/>
          <p:nvPr/>
        </p:nvSpPr>
        <p:spPr>
          <a:xfrm>
            <a:off x="1234440" y="4894580"/>
            <a:ext cx="91440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>
                <a:solidFill>
                  <a:schemeClr val="tx2">
                    <a:lumMod val="49000"/>
                    <a:lumOff val="51000"/>
                  </a:schemeClr>
                </a:solidFill>
              </a:rPr>
              <a:t>Good analysis without good visualization is invisible science.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86D2BC2-F500-3A4E-6B73-F2A1EC522E33}"/>
              </a:ext>
            </a:extLst>
          </p:cNvPr>
          <p:cNvSpPr txBox="1">
            <a:spLocks/>
          </p:cNvSpPr>
          <p:nvPr/>
        </p:nvSpPr>
        <p:spPr>
          <a:xfrm>
            <a:off x="611332" y="3228254"/>
            <a:ext cx="10209068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>
                <a:solidFill>
                  <a:schemeClr val="accent1">
                    <a:lumMod val="75000"/>
                  </a:schemeClr>
                </a:solidFill>
                <a:latin typeface="Candara"/>
              </a:rPr>
              <a:t>Day 03 – Session 03</a:t>
            </a:r>
            <a:endParaRPr lang="en-US">
              <a:solidFill>
                <a:schemeClr val="accent1">
                  <a:lumMod val="75000"/>
                </a:schemeClr>
              </a:solidFill>
              <a:latin typeface="Candara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062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Sample-Level QC: PCA &amp; Clustering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data quality before DE. Identify outliers, batch effects, sample swaps.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194560"/>
            <a:ext cx="5242560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609600" y="2194560"/>
            <a:ext cx="73152" cy="4023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7" name="Text 5"/>
          <p:cNvSpPr/>
          <p:nvPr/>
        </p:nvSpPr>
        <p:spPr>
          <a:xfrm>
            <a:off x="914400" y="231648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PCA Plot</a:t>
            </a:r>
            <a:endParaRPr lang="en-US" sz="2133"/>
          </a:p>
        </p:txBody>
      </p:sp>
      <p:sp>
        <p:nvSpPr>
          <p:cNvPr id="8" name="Text 6"/>
          <p:cNvSpPr/>
          <p:nvPr/>
        </p:nvSpPr>
        <p:spPr>
          <a:xfrm>
            <a:off x="914400" y="2804160"/>
            <a:ext cx="463296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gene dimensions to 2D.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for: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Separation by condition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Tight replicate clustering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Outliers far from group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Batch effects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plotPCA() on vst/rlog data.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captures most variance.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731520" y="63398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transform data first</a:t>
            </a:r>
            <a:endParaRPr lang="en-US" sz="16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613251-CDBA-9B54-0B4E-4240BBDD8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433" y="2194560"/>
            <a:ext cx="5180287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CF23D-BB43-0E88-85C4-6D8A28F6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914D04-D76D-0D2C-1CB3-C44F1365752E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956CAA-EFF8-DD91-7C84-5A9D3D155C6B}"/>
              </a:ext>
            </a:extLst>
          </p:cNvPr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Sample-Level QC: PCA &amp; Clustering</a:t>
            </a:r>
            <a:endParaRPr lang="en-US" sz="3467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04F7F7-B813-45FE-2580-A7FD403340DC}"/>
              </a:ext>
            </a:extLst>
          </p:cNvPr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data quality before DE. Identify outliers, batch effects, sample swaps.</a:t>
            </a:r>
            <a:endParaRPr lang="en-US" sz="20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127B9EA-450C-119A-102F-6523F8D83F97}"/>
              </a:ext>
            </a:extLst>
          </p:cNvPr>
          <p:cNvSpPr/>
          <p:nvPr/>
        </p:nvSpPr>
        <p:spPr>
          <a:xfrm>
            <a:off x="731520" y="1950720"/>
            <a:ext cx="5242560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4C5F409-4511-BD99-E97D-44402140D10F}"/>
              </a:ext>
            </a:extLst>
          </p:cNvPr>
          <p:cNvSpPr/>
          <p:nvPr/>
        </p:nvSpPr>
        <p:spPr>
          <a:xfrm>
            <a:off x="731520" y="1950720"/>
            <a:ext cx="73152" cy="40233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516C23-BA39-6EEA-B26E-ABFB26682B01}"/>
              </a:ext>
            </a:extLst>
          </p:cNvPr>
          <p:cNvSpPr/>
          <p:nvPr/>
        </p:nvSpPr>
        <p:spPr>
          <a:xfrm>
            <a:off x="1036320" y="207264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0077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Hierarchical Clustering</a:t>
            </a:r>
            <a:endParaRPr lang="en-US" sz="2133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6804130-CAF7-166E-FABE-0EC75F67A835}"/>
              </a:ext>
            </a:extLst>
          </p:cNvPr>
          <p:cNvSpPr/>
          <p:nvPr/>
        </p:nvSpPr>
        <p:spPr>
          <a:xfrm>
            <a:off x="1036320" y="2560320"/>
            <a:ext cx="463296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Sample-to-sample distance heatmap.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for: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Samples cluster by condition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Dark diagonal = similar replicates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Unexpected patterns = problems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Euclidean distance on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variance-stabilized data.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pheatmap or ComplexHeatmap.</a:t>
            </a:r>
            <a:endParaRPr lang="en-US" sz="1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DF5D1F6-FBC9-C221-7119-B60B8871AD36}"/>
              </a:ext>
            </a:extLst>
          </p:cNvPr>
          <p:cNvSpPr/>
          <p:nvPr/>
        </p:nvSpPr>
        <p:spPr>
          <a:xfrm>
            <a:off x="731520" y="63398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transform data first</a:t>
            </a:r>
            <a:endParaRPr lang="en-US" sz="160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D14706-8C23-B6D2-9CA1-5ADFEB449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97725"/>
            <a:ext cx="5529943" cy="16625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263645-0EAB-368F-57F1-746C86A32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88" b="-1"/>
          <a:stretch>
            <a:fillRect/>
          </a:stretch>
        </p:blipFill>
        <p:spPr>
          <a:xfrm>
            <a:off x="6302828" y="4462272"/>
            <a:ext cx="4676043" cy="16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65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Volcano Plot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411262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DE visualization: statistical significance vs. magnitude of change for every gene.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194560"/>
            <a:ext cx="3233057" cy="3901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Text 4"/>
          <p:cNvSpPr/>
          <p:nvPr/>
        </p:nvSpPr>
        <p:spPr>
          <a:xfrm>
            <a:off x="914400" y="2316480"/>
            <a:ext cx="54864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Axes &amp; Interpretation</a:t>
            </a:r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914400" y="2621280"/>
            <a:ext cx="54864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log2 Fold Change</a:t>
            </a:r>
            <a:endParaRPr lang="en-US" sz="1533"/>
          </a:p>
          <a:p>
            <a:r>
              <a:rPr lang="en-US" sz="15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Positive = up in treatment</a:t>
            </a:r>
            <a:endParaRPr lang="en-US" sz="1533"/>
          </a:p>
          <a:p>
            <a:r>
              <a:rPr lang="en-US" sz="15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Negative = down in treatment</a:t>
            </a:r>
            <a:endParaRPr lang="en-US" sz="1533"/>
          </a:p>
          <a:p>
            <a:endParaRPr lang="en-US" sz="1533"/>
          </a:p>
          <a:p>
            <a:r>
              <a:rPr lang="en-US" sz="15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Y-axis: –log10(adjusted p-value)</a:t>
            </a:r>
            <a:endParaRPr lang="en-US" sz="1533"/>
          </a:p>
          <a:p>
            <a:r>
              <a:rPr lang="en-US" sz="15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= more significant</a:t>
            </a:r>
            <a:endParaRPr lang="en-US" sz="1533"/>
          </a:p>
          <a:p>
            <a:r>
              <a:rPr lang="en-US" sz="15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Cutoff at –log10(0.05) ≈ 1.3</a:t>
            </a:r>
            <a:endParaRPr lang="en-US" sz="1533"/>
          </a:p>
          <a:p>
            <a:endParaRPr lang="en-US" sz="1533"/>
          </a:p>
        </p:txBody>
      </p:sp>
      <p:pic>
        <p:nvPicPr>
          <p:cNvPr id="8" name="Content Placeholder 6" descr="A graph of red blue and white dots&#10;&#10;AI-generated content may be incorrect.">
            <a:extLst>
              <a:ext uri="{FF2B5EF4-FFF2-40B4-BE49-F238E27FC236}">
                <a16:creationId xmlns:a16="http://schemas.microsoft.com/office/drawing/2014/main" id="{71D2B8D2-113B-E9D8-A8F0-09D3014B8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294" y="2194560"/>
            <a:ext cx="5472611" cy="41116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0101AF-FBAF-E1D4-681C-8124025CB6F8}"/>
              </a:ext>
            </a:extLst>
          </p:cNvPr>
          <p:cNvSpPr txBox="1"/>
          <p:nvPr/>
        </p:nvSpPr>
        <p:spPr>
          <a:xfrm>
            <a:off x="7895772" y="590859"/>
            <a:ext cx="370840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Which genes changed between two conditions? (Biologically)</a:t>
            </a:r>
          </a:p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How confident are we about that change? (Statistically)</a:t>
            </a:r>
            <a:endParaRPr lang="en-US" sz="1600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chemeClr val="tx2">
                    <a:lumMod val="76000"/>
                    <a:lumOff val="24000"/>
                  </a:schemeClr>
                </a:solidFill>
              </a:rPr>
              <a:t>------- Threshold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600BE8-6EBF-85E4-A7A7-4E84C24B2D49}"/>
              </a:ext>
            </a:extLst>
          </p:cNvPr>
          <p:cNvSpPr txBox="1"/>
          <p:nvPr/>
        </p:nvSpPr>
        <p:spPr>
          <a:xfrm>
            <a:off x="6017199" y="6272408"/>
            <a:ext cx="654304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solidFill>
                  <a:srgbClr val="FF0000"/>
                </a:solidFill>
              </a:rPr>
              <a:t>Log fold change: </a:t>
            </a:r>
            <a:r>
              <a:rPr lang="en-US" sz="1600" b="1">
                <a:solidFill>
                  <a:srgbClr val="FF0000"/>
                </a:solidFill>
              </a:rPr>
              <a:t>how</a:t>
            </a:r>
            <a:r>
              <a:rPr lang="en-US" sz="1600" b="1">
                <a:solidFill>
                  <a:srgbClr val="FF0000"/>
                </a:solidFill>
                <a:ea typeface="+mn-lt"/>
                <a:cs typeface="+mn-lt"/>
              </a:rPr>
              <a:t> much a gene changed</a:t>
            </a:r>
            <a:r>
              <a:rPr lang="en-US" sz="1600">
                <a:solidFill>
                  <a:srgbClr val="FF0000"/>
                </a:solidFill>
                <a:ea typeface="+mn-lt"/>
                <a:cs typeface="+mn-lt"/>
              </a:rPr>
              <a:t>.</a:t>
            </a:r>
            <a:endParaRPr lang="en-US" sz="160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9B10E3-C673-A97F-0025-D04D25F24D5B}"/>
              </a:ext>
            </a:extLst>
          </p:cNvPr>
          <p:cNvSpPr txBox="1"/>
          <p:nvPr/>
        </p:nvSpPr>
        <p:spPr>
          <a:xfrm rot="-5400000">
            <a:off x="3254163" y="4053476"/>
            <a:ext cx="4586300" cy="3479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b="1">
                <a:solidFill>
                  <a:srgbClr val="FF0000"/>
                </a:solidFill>
                <a:ea typeface="+mn-lt"/>
                <a:cs typeface="+mn-lt"/>
              </a:rPr>
              <a:t>How confident we are</a:t>
            </a:r>
            <a:r>
              <a:rPr lang="en-US" sz="1600">
                <a:solidFill>
                  <a:srgbClr val="FF0000"/>
                </a:solidFill>
                <a:ea typeface="+mn-lt"/>
                <a:cs typeface="+mn-lt"/>
              </a:rPr>
              <a:t> in the change.</a:t>
            </a:r>
            <a:endParaRPr lang="en-US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 Plot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mean expression vs. fold change. Reveals expression-dependent bias and effect of LFC shrinkage.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194560"/>
            <a:ext cx="609600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609600" y="2194560"/>
            <a:ext cx="73152" cy="36576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baseMean (log10 scale)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Left = low expression, right = high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Y: Log2 Fold Change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Cloud centered at y=0 = good normalization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Low-count genes (left) show high variance</a:t>
            </a:r>
            <a:endParaRPr lang="en-US" sz="1600"/>
          </a:p>
          <a:p>
            <a:endParaRPr lang="en-US" sz="1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Heatmaps for Gene Expression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expression patterns across samples for selected genes, revealing clusters and co-expression patterns.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194560"/>
            <a:ext cx="5486400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609600" y="2194560"/>
            <a:ext cx="73152" cy="4023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7" name="Text 5"/>
          <p:cNvSpPr/>
          <p:nvPr/>
        </p:nvSpPr>
        <p:spPr>
          <a:xfrm>
            <a:off x="914400" y="231648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Practices</a:t>
            </a:r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914400" y="2804160"/>
            <a:ext cx="4632960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transformed values, NOT raw counts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Scaling: Z-score by row (gene) to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relative patterns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selection: Top 20–50 DE genes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padj, or genes of interest.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Annotations: Column annotations for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condition, batch, etc.</a:t>
            </a:r>
            <a:endParaRPr lang="en-US" sz="1600"/>
          </a:p>
          <a:p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Clustering: Hierarchical clustering of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+ columns reveals modules</a:t>
            </a:r>
            <a:endParaRPr lang="en-US"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B8A64-20C4-6E99-92AD-D2152C0EB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Heatmaps and 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AD82A-5F60-4A77-1B12-26F727F51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1619" y="1825625"/>
            <a:ext cx="4014020" cy="4351338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marL="514350" indent="-514350">
              <a:buAutoNum type="arabicPeriod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Heatmap of top genes with clear clustering by condition</a:t>
            </a:r>
          </a:p>
          <a:p>
            <a:pPr marL="514350" indent="-514350">
              <a:buAutoNum type="arabicPeriod"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  <a:ea typeface="+mn-lt"/>
              <a:cs typeface="+mn-lt"/>
            </a:endParaRPr>
          </a:p>
          <a:p>
            <a:pPr marL="514350" indent="-514350">
              <a:buAutoNum type="arabicPeriod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Which genes behave similarly across samples</a:t>
            </a:r>
            <a:endParaRPr lang="en-US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514350" indent="-514350">
              <a:buAutoNum type="arabicPeriod"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  <a:ea typeface="+mn-lt"/>
              <a:cs typeface="+mn-lt"/>
            </a:endParaRPr>
          </a:p>
          <a:p>
            <a:pPr marL="514350" indent="-514350">
              <a:buAutoNum type="arabicPeriod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Do top DE genes show a clear pattern?</a:t>
            </a:r>
          </a:p>
        </p:txBody>
      </p:sp>
      <p:pic>
        <p:nvPicPr>
          <p:cNvPr id="4" name="Picture 3" descr="DESeq2 Course Work">
            <a:extLst>
              <a:ext uri="{FF2B5EF4-FFF2-40B4-BE49-F238E27FC236}">
                <a16:creationId xmlns:a16="http://schemas.microsoft.com/office/drawing/2014/main" id="{56584984-240E-5B62-23DF-E956812D4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084" y="1610032"/>
            <a:ext cx="6400800" cy="4572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D0426D-8D87-5BC9-6815-EB68F944FC25}"/>
              </a:ext>
            </a:extLst>
          </p:cNvPr>
          <p:cNvSpPr txBox="1"/>
          <p:nvPr/>
        </p:nvSpPr>
        <p:spPr>
          <a:xfrm>
            <a:off x="1064367" y="629885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D97F78-442A-7ECB-F980-D757A01F6C3D}"/>
              </a:ext>
            </a:extLst>
          </p:cNvPr>
          <p:cNvSpPr txBox="1"/>
          <p:nvPr/>
        </p:nvSpPr>
        <p:spPr>
          <a:xfrm>
            <a:off x="1539240" y="6189980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ea typeface="+mn-lt"/>
                <a:cs typeface="+mn-lt"/>
              </a:rPr>
              <a:t>Samples (columns)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1365A-8CAB-1857-1C14-E42776557993}"/>
              </a:ext>
            </a:extLst>
          </p:cNvPr>
          <p:cNvSpPr txBox="1"/>
          <p:nvPr/>
        </p:nvSpPr>
        <p:spPr>
          <a:xfrm rot="5400000">
            <a:off x="4627880" y="3934459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ea typeface="+mn-lt"/>
                <a:cs typeface="+mn-lt"/>
              </a:rPr>
              <a:t>Genes (rows)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BA9B12-FDBE-6A32-816A-4EAB022B23D4}"/>
              </a:ext>
            </a:extLst>
          </p:cNvPr>
          <p:cNvSpPr txBox="1"/>
          <p:nvPr/>
        </p:nvSpPr>
        <p:spPr>
          <a:xfrm>
            <a:off x="4617720" y="1945640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ea typeface="+mn-lt"/>
                <a:cs typeface="+mn-lt"/>
              </a:rPr>
              <a:t>Condition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EEA6BE3-70F8-A5C4-0C28-2FDF95DA6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0115096-1BAE-BE68-3C68-51427D52E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AA1A68C-B64F-C8C2-B080-28940D0B5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777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8B39F-27FE-95F0-68DC-F96392E33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B4E76-FFAF-471D-3697-D7EF04229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Heatmaps and 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87981-2D77-1A8D-01EB-D04B9F6BF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7160" y="1825625"/>
            <a:ext cx="4104640" cy="435133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Do samples cluster by condition?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0" indent="0">
              <a:buNone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>
              <a:buFont typeface="Arial"/>
              <a:buChar char="•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heatmap where the top annotation bars clearly label Condition and Replicate.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>
              <a:buFont typeface="Arial"/>
              <a:buChar char="•"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 how to read the annotation bars and how clustering supports the experimental design.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0" indent="0">
              <a:buNone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302CE9-1102-B5AF-F142-2E4B78861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555" y="1306284"/>
            <a:ext cx="4491601" cy="538843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31847-B301-7067-097C-2DDD3E901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741E07-BEB9-086C-4E2A-75A684A37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AA3DB-0427-6D54-7F04-55D4E13A8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781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0E3DE-D4F1-B042-40C6-BE0127C48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3C05D-6100-878D-8FD0-E2EEE551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Heatmaps and 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F67CF-8B31-99ED-1016-CA0F238D5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7160" y="1825625"/>
            <a:ext cx="4104640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Sample-to-sample correlation heatmap 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0" indent="0">
              <a:buNone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>
              <a:buFont typeface="Arial"/>
              <a:buChar char="•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Correlation matrix heatmap showing samples clustering nicely by group.</a:t>
            </a:r>
          </a:p>
          <a:p>
            <a:pPr>
              <a:buFont typeface="Arial"/>
              <a:buChar char="•"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Usually uses for  “QC check: do replicates look similar?”</a:t>
            </a:r>
            <a:endParaRPr lang="en-US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>
              <a:buFont typeface="Arial"/>
              <a:buChar char="•"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0" indent="0">
              <a:buNone/>
            </a:pPr>
            <a:endParaRPr lang="en-US" b="1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18C077-E0A3-2A89-3783-B85F868B1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" y="1473653"/>
            <a:ext cx="6411686" cy="445497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DA89C-3E1D-D7F0-302A-9CEB96E13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709C-D605-39B9-726F-F5BDE2452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9BC28A-1290-73BA-DD99-FA180E2A1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416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3A599-093B-5273-7734-AE7E8557E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40" y="209677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b="1">
                <a:solidFill>
                  <a:schemeClr val="accent2">
                    <a:lumMod val="49000"/>
                  </a:schemeClr>
                </a:solidFill>
                <a:latin typeface="ADLaM Display"/>
                <a:ea typeface="Aptos"/>
                <a:cs typeface="Aptos"/>
              </a:rPr>
              <a:t> Pathway &amp; Enrichment Analysis</a:t>
            </a:r>
            <a:endParaRPr lang="en-US" sz="4800">
              <a:solidFill>
                <a:schemeClr val="accent2">
                  <a:lumMod val="49000"/>
                </a:schemeClr>
              </a:solidFill>
              <a:latin typeface="ADLaM Display"/>
              <a:ea typeface="ADLaM Display"/>
              <a:cs typeface="ADLaM Display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3D66A6-8E78-2476-FD7D-5E370FC8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28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FD3AC-09F5-02CD-1F74-3B3796C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55BEB63-770C-8BDB-4138-3868045F0D0D}"/>
              </a:ext>
            </a:extLst>
          </p:cNvPr>
          <p:cNvSpPr txBox="1">
            <a:spLocks/>
          </p:cNvSpPr>
          <p:nvPr/>
        </p:nvSpPr>
        <p:spPr>
          <a:xfrm>
            <a:off x="1428750" y="3158982"/>
            <a:ext cx="10209068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>
                <a:solidFill>
                  <a:schemeClr val="accent1">
                    <a:lumMod val="75000"/>
                  </a:schemeClr>
                </a:solidFill>
                <a:latin typeface="Candara"/>
              </a:rPr>
              <a:t>Day 03 – Session 04</a:t>
            </a:r>
            <a:endParaRPr lang="en-US">
              <a:solidFill>
                <a:schemeClr val="accent1">
                  <a:lumMod val="75000"/>
                </a:schemeClr>
              </a:solidFill>
              <a:latin typeface="Candara"/>
            </a:endParaRPr>
          </a:p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A4048-9009-AB38-41A0-BDC58B937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928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Gene Lists to Biological Meaning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gives a gene list. Enrichment analysis connects it to known biology: pathways, processes, functions.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194560"/>
            <a:ext cx="5120640" cy="2438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609600" y="2194560"/>
            <a:ext cx="73152" cy="2438400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7" name="Text 5"/>
          <p:cNvSpPr/>
          <p:nvPr/>
        </p:nvSpPr>
        <p:spPr>
          <a:xfrm>
            <a:off x="914400" y="231648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914400" y="2865120"/>
            <a:ext cx="451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DE genes. Looking at individuals is overwhelming. A pathway effect may be distributed across many genes with small changes.</a:t>
            </a:r>
            <a:endParaRPr lang="en-US" sz="1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926080"/>
            <a:ext cx="487680" cy="4876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61760" y="2194560"/>
            <a:ext cx="5120640" cy="2438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1" name="Shape 8"/>
          <p:cNvSpPr/>
          <p:nvPr/>
        </p:nvSpPr>
        <p:spPr>
          <a:xfrm>
            <a:off x="6461760" y="2194560"/>
            <a:ext cx="73152" cy="243840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2" name="Text 9"/>
          <p:cNvSpPr/>
          <p:nvPr/>
        </p:nvSpPr>
        <p:spPr>
          <a:xfrm>
            <a:off x="6766560" y="231648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2000"/>
          </a:p>
        </p:txBody>
      </p:sp>
      <p:sp>
        <p:nvSpPr>
          <p:cNvPr id="13" name="Text 10"/>
          <p:cNvSpPr/>
          <p:nvPr/>
        </p:nvSpPr>
        <p:spPr>
          <a:xfrm>
            <a:off x="6766560" y="2865120"/>
            <a:ext cx="451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asks: "Are genes from a biological pathway over-represented in my results more than by chance?" Provides higher-level interpretation.</a:t>
            </a:r>
            <a:endParaRPr lang="en-US" sz="1600"/>
          </a:p>
        </p:txBody>
      </p:sp>
      <p:sp>
        <p:nvSpPr>
          <p:cNvPr id="14" name="Text 11"/>
          <p:cNvSpPr/>
          <p:nvPr/>
        </p:nvSpPr>
        <p:spPr>
          <a:xfrm>
            <a:off x="731520" y="4998720"/>
            <a:ext cx="10728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Generations of Methods</a:t>
            </a:r>
            <a:endParaRPr lang="en-US" sz="2000"/>
          </a:p>
        </p:txBody>
      </p:sp>
      <p:sp>
        <p:nvSpPr>
          <p:cNvPr id="15" name="Shape 12"/>
          <p:cNvSpPr/>
          <p:nvPr/>
        </p:nvSpPr>
        <p:spPr>
          <a:xfrm>
            <a:off x="609600" y="5547360"/>
            <a:ext cx="3535680" cy="975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6" name="Text 13"/>
          <p:cNvSpPr/>
          <p:nvPr/>
        </p:nvSpPr>
        <p:spPr>
          <a:xfrm>
            <a:off x="609600" y="5547360"/>
            <a:ext cx="35356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1st: ORA</a:t>
            </a:r>
            <a:endParaRPr lang="en-US" sz="1600"/>
          </a:p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(Over-Representation)</a:t>
            </a:r>
            <a:endParaRPr lang="en-US" sz="1600"/>
          </a:p>
        </p:txBody>
      </p:sp>
      <p:sp>
        <p:nvSpPr>
          <p:cNvPr id="17" name="Shape 14"/>
          <p:cNvSpPr/>
          <p:nvPr/>
        </p:nvSpPr>
        <p:spPr>
          <a:xfrm>
            <a:off x="4511040" y="5547360"/>
            <a:ext cx="3535680" cy="9753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8" name="Text 15"/>
          <p:cNvSpPr/>
          <p:nvPr/>
        </p:nvSpPr>
        <p:spPr>
          <a:xfrm>
            <a:off x="4511040" y="5547360"/>
            <a:ext cx="35356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2nd: FCS / GSEA</a:t>
            </a:r>
            <a:endParaRPr lang="en-US" sz="1600"/>
          </a:p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(Functional Class Scoring)</a:t>
            </a:r>
            <a:endParaRPr lang="en-US" sz="1600"/>
          </a:p>
        </p:txBody>
      </p:sp>
      <p:sp>
        <p:nvSpPr>
          <p:cNvPr id="19" name="Shape 16"/>
          <p:cNvSpPr/>
          <p:nvPr/>
        </p:nvSpPr>
        <p:spPr>
          <a:xfrm>
            <a:off x="8412480" y="5547360"/>
            <a:ext cx="3535680" cy="975360"/>
          </a:xfrm>
          <a:prstGeom prst="rect">
            <a:avLst/>
          </a:prstGeom>
          <a:solidFill>
            <a:srgbClr val="F77F00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20" name="Text 17"/>
          <p:cNvSpPr/>
          <p:nvPr/>
        </p:nvSpPr>
        <p:spPr>
          <a:xfrm>
            <a:off x="8412480" y="5547360"/>
            <a:ext cx="35356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3rd: Topology-Based</a:t>
            </a:r>
            <a:endParaRPr lang="en-US" sz="1600"/>
          </a:p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(Network context)</a:t>
            </a:r>
            <a:endParaRPr lang="en-US" sz="1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 Bases for Enrichment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relies on curated databases defining gene sets.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072640"/>
            <a:ext cx="10972800" cy="7559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609600" y="2072640"/>
            <a:ext cx="73152" cy="75590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7" name="Text 5"/>
          <p:cNvSpPr/>
          <p:nvPr/>
        </p:nvSpPr>
        <p:spPr>
          <a:xfrm>
            <a:off x="914400" y="2133600"/>
            <a:ext cx="3413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 Ontology (GO)</a:t>
            </a:r>
            <a:endParaRPr lang="en-US" sz="1733"/>
          </a:p>
        </p:txBody>
      </p:sp>
      <p:sp>
        <p:nvSpPr>
          <p:cNvPr id="8" name="Text 6"/>
          <p:cNvSpPr/>
          <p:nvPr/>
        </p:nvSpPr>
        <p:spPr>
          <a:xfrm>
            <a:off x="4389120" y="2133600"/>
            <a:ext cx="6949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BP, MF, CC ontologies. Hierarchical DAG. ~45,000 terms.</a:t>
            </a:r>
            <a:endParaRPr lang="en-US" sz="1467"/>
          </a:p>
        </p:txBody>
      </p:sp>
      <p:sp>
        <p:nvSpPr>
          <p:cNvPr id="9" name="Shape 7"/>
          <p:cNvSpPr/>
          <p:nvPr/>
        </p:nvSpPr>
        <p:spPr>
          <a:xfrm>
            <a:off x="609600" y="2950464"/>
            <a:ext cx="10972800" cy="7559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0" name="Shape 8"/>
          <p:cNvSpPr/>
          <p:nvPr/>
        </p:nvSpPr>
        <p:spPr>
          <a:xfrm>
            <a:off x="609600" y="2950464"/>
            <a:ext cx="73152" cy="75590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1" name="Text 9"/>
          <p:cNvSpPr/>
          <p:nvPr/>
        </p:nvSpPr>
        <p:spPr>
          <a:xfrm>
            <a:off x="914400" y="3011424"/>
            <a:ext cx="3413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0077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KEGG Pathways</a:t>
            </a:r>
            <a:endParaRPr lang="en-US" sz="1733"/>
          </a:p>
        </p:txBody>
      </p:sp>
      <p:sp>
        <p:nvSpPr>
          <p:cNvPr id="12" name="Text 10"/>
          <p:cNvSpPr/>
          <p:nvPr/>
        </p:nvSpPr>
        <p:spPr>
          <a:xfrm>
            <a:off x="4389120" y="3011424"/>
            <a:ext cx="6949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metabolic/signaling/disease pathways. ~350 human pathways.</a:t>
            </a:r>
            <a:endParaRPr lang="en-US" sz="1467"/>
          </a:p>
        </p:txBody>
      </p:sp>
      <p:sp>
        <p:nvSpPr>
          <p:cNvPr id="13" name="Shape 11"/>
          <p:cNvSpPr/>
          <p:nvPr/>
        </p:nvSpPr>
        <p:spPr>
          <a:xfrm>
            <a:off x="609600" y="3828288"/>
            <a:ext cx="10972800" cy="7559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4" name="Shape 12"/>
          <p:cNvSpPr/>
          <p:nvPr/>
        </p:nvSpPr>
        <p:spPr>
          <a:xfrm>
            <a:off x="609600" y="3828288"/>
            <a:ext cx="73152" cy="755904"/>
          </a:xfrm>
          <a:prstGeom prst="rect">
            <a:avLst/>
          </a:prstGeom>
          <a:solidFill>
            <a:srgbClr val="F77F00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5" name="Text 13"/>
          <p:cNvSpPr/>
          <p:nvPr/>
        </p:nvSpPr>
        <p:spPr>
          <a:xfrm>
            <a:off x="914400" y="3889248"/>
            <a:ext cx="3413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F77F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Reactome</a:t>
            </a:r>
            <a:endParaRPr lang="en-US" sz="1733"/>
          </a:p>
        </p:txBody>
      </p:sp>
      <p:sp>
        <p:nvSpPr>
          <p:cNvPr id="16" name="Text 14"/>
          <p:cNvSpPr/>
          <p:nvPr/>
        </p:nvSpPr>
        <p:spPr>
          <a:xfrm>
            <a:off x="4389120" y="3889248"/>
            <a:ext cx="6949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peer-reviewed. Hierarchical. ~2,600 human pathways.</a:t>
            </a:r>
            <a:endParaRPr lang="en-US" sz="1467"/>
          </a:p>
        </p:txBody>
      </p:sp>
      <p:sp>
        <p:nvSpPr>
          <p:cNvPr id="17" name="Shape 15"/>
          <p:cNvSpPr/>
          <p:nvPr/>
        </p:nvSpPr>
        <p:spPr>
          <a:xfrm>
            <a:off x="609600" y="4706112"/>
            <a:ext cx="10972800" cy="7559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8" name="Shape 16"/>
          <p:cNvSpPr/>
          <p:nvPr/>
        </p:nvSpPr>
        <p:spPr>
          <a:xfrm>
            <a:off x="609600" y="4706112"/>
            <a:ext cx="73152" cy="75590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9" name="Text 17"/>
          <p:cNvSpPr/>
          <p:nvPr/>
        </p:nvSpPr>
        <p:spPr>
          <a:xfrm>
            <a:off x="914400" y="4767072"/>
            <a:ext cx="3413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MSigDB (Broad)</a:t>
            </a:r>
            <a:endParaRPr lang="en-US" sz="1733"/>
          </a:p>
        </p:txBody>
      </p:sp>
      <p:sp>
        <p:nvSpPr>
          <p:cNvPr id="20" name="Text 18"/>
          <p:cNvSpPr/>
          <p:nvPr/>
        </p:nvSpPr>
        <p:spPr>
          <a:xfrm>
            <a:off x="4389120" y="4767072"/>
            <a:ext cx="6949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collections: Hallmark (50 sets), curated, motif, GO, oncogenic, immunologic, cell type.</a:t>
            </a:r>
            <a:endParaRPr lang="en-US" sz="1467"/>
          </a:p>
        </p:txBody>
      </p:sp>
      <p:sp>
        <p:nvSpPr>
          <p:cNvPr id="21" name="Shape 19"/>
          <p:cNvSpPr/>
          <p:nvPr/>
        </p:nvSpPr>
        <p:spPr>
          <a:xfrm>
            <a:off x="609600" y="5583936"/>
            <a:ext cx="10972800" cy="7559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22" name="Shape 20"/>
          <p:cNvSpPr/>
          <p:nvPr/>
        </p:nvSpPr>
        <p:spPr>
          <a:xfrm>
            <a:off x="609600" y="5583936"/>
            <a:ext cx="73152" cy="755904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23" name="Text 21"/>
          <p:cNvSpPr/>
          <p:nvPr/>
        </p:nvSpPr>
        <p:spPr>
          <a:xfrm>
            <a:off x="914400" y="5644896"/>
            <a:ext cx="3413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9B59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WikiPathways</a:t>
            </a:r>
            <a:endParaRPr lang="en-US" sz="1733"/>
          </a:p>
        </p:txBody>
      </p:sp>
      <p:sp>
        <p:nvSpPr>
          <p:cNvPr id="24" name="Text 22"/>
          <p:cNvSpPr/>
          <p:nvPr/>
        </p:nvSpPr>
        <p:spPr>
          <a:xfrm>
            <a:off x="4389120" y="5644896"/>
            <a:ext cx="6949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Community-curated open pathway database with visual diagrams.</a:t>
            </a:r>
            <a:endParaRPr lang="en-US" sz="1467"/>
          </a:p>
        </p:txBody>
      </p:sp>
      <p:sp>
        <p:nvSpPr>
          <p:cNvPr id="25" name="Text 23"/>
          <p:cNvSpPr/>
          <p:nvPr/>
        </p:nvSpPr>
        <p:spPr>
          <a:xfrm>
            <a:off x="731520" y="63398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multiple databases for comprehensive analysis.</a:t>
            </a:r>
            <a:endParaRPr lang="en-US" sz="16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 Ontology: Structure &amp; Three Domains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is a DAG: child terms are more specific. A gene annotated to a child inherits all parent annotations.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487680" y="2255520"/>
            <a:ext cx="3657600" cy="3048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487680" y="2255520"/>
            <a:ext cx="73152" cy="30480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 Process (BP)</a:t>
            </a:r>
            <a:endParaRPr lang="en-US" sz="1867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316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gene does biologically.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apoptosis, immune response,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cycle, DNA repair</a:t>
            </a:r>
            <a:endParaRPr lang="en-US" sz="1600"/>
          </a:p>
        </p:txBody>
      </p:sp>
      <p:sp>
        <p:nvSpPr>
          <p:cNvPr id="9" name="Shape 7"/>
          <p:cNvSpPr/>
          <p:nvPr/>
        </p:nvSpPr>
        <p:spPr>
          <a:xfrm>
            <a:off x="4328160" y="2255520"/>
            <a:ext cx="3657600" cy="3048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0" name="Shape 8"/>
          <p:cNvSpPr/>
          <p:nvPr/>
        </p:nvSpPr>
        <p:spPr>
          <a:xfrm>
            <a:off x="4328160" y="2255520"/>
            <a:ext cx="73152" cy="304800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1" name="Text 9"/>
          <p:cNvSpPr/>
          <p:nvPr/>
        </p:nvSpPr>
        <p:spPr>
          <a:xfrm>
            <a:off x="4572000" y="2377440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>
                <a:solidFill>
                  <a:srgbClr val="0077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Molecular Function (MF)</a:t>
            </a:r>
            <a:endParaRPr lang="en-US" sz="1867"/>
          </a:p>
        </p:txBody>
      </p:sp>
      <p:sp>
        <p:nvSpPr>
          <p:cNvPr id="12" name="Text 10"/>
          <p:cNvSpPr/>
          <p:nvPr/>
        </p:nvSpPr>
        <p:spPr>
          <a:xfrm>
            <a:off x="4572000" y="2926080"/>
            <a:ext cx="316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Biochemical activity.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kinase activity, DNA binding,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 activity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>
          <a:xfrm>
            <a:off x="8168640" y="2255520"/>
            <a:ext cx="3657600" cy="3048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4" name="Shape 12"/>
          <p:cNvSpPr/>
          <p:nvPr/>
        </p:nvSpPr>
        <p:spPr>
          <a:xfrm>
            <a:off x="8168640" y="2255520"/>
            <a:ext cx="73152" cy="3048000"/>
          </a:xfrm>
          <a:prstGeom prst="rect">
            <a:avLst/>
          </a:prstGeom>
          <a:solidFill>
            <a:srgbClr val="F77F00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5" name="Text 13"/>
          <p:cNvSpPr/>
          <p:nvPr/>
        </p:nvSpPr>
        <p:spPr>
          <a:xfrm>
            <a:off x="8412480" y="2377440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>
                <a:solidFill>
                  <a:srgbClr val="F77F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Cellular Component (CC)</a:t>
            </a:r>
            <a:endParaRPr lang="en-US" sz="1867"/>
          </a:p>
        </p:txBody>
      </p:sp>
      <p:sp>
        <p:nvSpPr>
          <p:cNvPr id="16" name="Text 14"/>
          <p:cNvSpPr/>
          <p:nvPr/>
        </p:nvSpPr>
        <p:spPr>
          <a:xfrm>
            <a:off x="8412480" y="2926080"/>
            <a:ext cx="316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the cell.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nucleus, mitochondrion,</a:t>
            </a:r>
            <a:endParaRPr lang="en-US" sz="1600"/>
          </a:p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membrane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31520" y="5608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Redundancy is common in GO results. Use REVIGO or rrvgo to summarize and reduce redundant terms.</a:t>
            </a:r>
            <a:endParaRPr lang="en-US" sz="1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Over-Representation Analysis (ORA)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pathway genes appear more often in DE list than expected by chance (2×2 contingency table).</a:t>
            </a:r>
            <a:endParaRPr lang="en-US" sz="2000"/>
          </a:p>
        </p:txBody>
      </p:sp>
      <p:graphicFrame>
        <p:nvGraphicFramePr>
          <p:cNvPr id="28" name="Table 0"/>
          <p:cNvGraphicFramePr>
            <a:graphicFrameLocks noGrp="1"/>
          </p:cNvGraphicFramePr>
          <p:nvPr/>
        </p:nvGraphicFramePr>
        <p:xfrm>
          <a:off x="731520" y="2194560"/>
          <a:ext cx="6705600" cy="20726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Gene Set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Set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Genes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00" b="1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n–x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C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M–x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N–n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N–M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2194560"/>
            <a:ext cx="4023360" cy="2072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7" name="Shape 4"/>
          <p:cNvSpPr/>
          <p:nvPr/>
        </p:nvSpPr>
        <p:spPr>
          <a:xfrm>
            <a:off x="7680960" y="2194560"/>
            <a:ext cx="73152" cy="2072640"/>
          </a:xfrm>
          <a:prstGeom prst="rect">
            <a:avLst/>
          </a:prstGeom>
          <a:solidFill>
            <a:srgbClr val="F77F00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8" name="Text 5"/>
          <p:cNvSpPr/>
          <p:nvPr/>
        </p:nvSpPr>
        <p:spPr>
          <a:xfrm>
            <a:off x="7985760" y="23164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F77F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Fisher's Exact / Hypergeometric</a:t>
            </a:r>
            <a:endParaRPr lang="en-US" sz="1733"/>
          </a:p>
        </p:txBody>
      </p:sp>
      <p:sp>
        <p:nvSpPr>
          <p:cNvPr id="9" name="Text 6"/>
          <p:cNvSpPr/>
          <p:nvPr/>
        </p:nvSpPr>
        <p:spPr>
          <a:xfrm>
            <a:off x="7985760" y="2743200"/>
            <a:ext cx="341376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background genes</a:t>
            </a:r>
            <a:endParaRPr lang="en-US" sz="1467"/>
          </a:p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DE genes</a:t>
            </a:r>
            <a:endParaRPr lang="en-US" sz="1467"/>
          </a:p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genes in set S</a:t>
            </a:r>
            <a:endParaRPr lang="en-US" sz="1467"/>
          </a:p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DE genes in set S</a:t>
            </a:r>
            <a:endParaRPr lang="en-US" sz="1467"/>
          </a:p>
          <a:p>
            <a:endParaRPr lang="en-US" sz="1467"/>
          </a:p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is x &gt; expected by chance?</a:t>
            </a:r>
            <a:endParaRPr lang="en-US" sz="1467"/>
          </a:p>
        </p:txBody>
      </p:sp>
      <p:sp>
        <p:nvSpPr>
          <p:cNvPr id="10" name="Text 7"/>
          <p:cNvSpPr/>
          <p:nvPr/>
        </p:nvSpPr>
        <p:spPr>
          <a:xfrm>
            <a:off x="731520" y="475488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pitfalls: (1) Background must be expressed genes, not full genome; (2) Arbitrary DE threshold affects results; (3) Assumes gene independence (often violated)</a:t>
            </a:r>
            <a:endParaRPr lang="en-US" sz="1733"/>
          </a:p>
        </p:txBody>
      </p:sp>
      <p:sp>
        <p:nvSpPr>
          <p:cNvPr id="11" name="Text 8"/>
          <p:cNvSpPr/>
          <p:nvPr/>
        </p:nvSpPr>
        <p:spPr>
          <a:xfrm>
            <a:off x="731520" y="573024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tools: clusterProfiler, g:Profiler, DAVID, Enrichr, PANTHER</a:t>
            </a:r>
            <a:endParaRPr lang="en-US" sz="16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 Set Enrichment Analysis (GSEA)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ENTIRE ranked gene list (no threshold). Tests whether pathway genes cluster at the top or bottom.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731520" y="2255520"/>
            <a:ext cx="548640" cy="548640"/>
          </a:xfrm>
          <a:prstGeom prst="ellipse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6" name="Text 4"/>
          <p:cNvSpPr/>
          <p:nvPr/>
        </p:nvSpPr>
        <p:spPr>
          <a:xfrm>
            <a:off x="731520" y="2255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1524000" y="2194560"/>
            <a:ext cx="30480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Rank all genes</a:t>
            </a:r>
            <a:endParaRPr lang="en-US" sz="1733"/>
          </a:p>
        </p:txBody>
      </p:sp>
      <p:sp>
        <p:nvSpPr>
          <p:cNvPr id="8" name="Text 6"/>
          <p:cNvSpPr/>
          <p:nvPr/>
        </p:nvSpPr>
        <p:spPr>
          <a:xfrm>
            <a:off x="4632960" y="2194560"/>
            <a:ext cx="70713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metric (Wald stat, shrunken log2FC, signed –log10(p)×sign(log2FC), or t-statistic).</a:t>
            </a:r>
            <a:endParaRPr lang="en-US" sz="1467"/>
          </a:p>
        </p:txBody>
      </p:sp>
      <p:sp>
        <p:nvSpPr>
          <p:cNvPr id="9" name="Shape 7"/>
          <p:cNvSpPr/>
          <p:nvPr/>
        </p:nvSpPr>
        <p:spPr>
          <a:xfrm>
            <a:off x="731520" y="3352800"/>
            <a:ext cx="548640" cy="548640"/>
          </a:xfrm>
          <a:prstGeom prst="ellipse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0" name="Text 8"/>
          <p:cNvSpPr/>
          <p:nvPr/>
        </p:nvSpPr>
        <p:spPr>
          <a:xfrm>
            <a:off x="731520" y="3352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1524000" y="3291840"/>
            <a:ext cx="30480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 down ranked list</a:t>
            </a:r>
            <a:endParaRPr lang="en-US" sz="1733"/>
          </a:p>
        </p:txBody>
      </p:sp>
      <p:sp>
        <p:nvSpPr>
          <p:cNvPr id="12" name="Text 10"/>
          <p:cNvSpPr/>
          <p:nvPr/>
        </p:nvSpPr>
        <p:spPr>
          <a:xfrm>
            <a:off x="4632960" y="3291840"/>
            <a:ext cx="70713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Running-sum: +increment for gene set members (weighted by rank metric), –decrement otherwise.</a:t>
            </a:r>
            <a:endParaRPr lang="en-US" sz="1467"/>
          </a:p>
        </p:txBody>
      </p:sp>
      <p:sp>
        <p:nvSpPr>
          <p:cNvPr id="13" name="Shape 11"/>
          <p:cNvSpPr/>
          <p:nvPr/>
        </p:nvSpPr>
        <p:spPr>
          <a:xfrm>
            <a:off x="731520" y="4450080"/>
            <a:ext cx="548640" cy="548640"/>
          </a:xfrm>
          <a:prstGeom prst="ellipse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4" name="Text 12"/>
          <p:cNvSpPr/>
          <p:nvPr/>
        </p:nvSpPr>
        <p:spPr>
          <a:xfrm>
            <a:off x="731520" y="4450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1524000" y="4389120"/>
            <a:ext cx="30480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Enrichment Score</a:t>
            </a:r>
            <a:endParaRPr lang="en-US" sz="1733"/>
          </a:p>
        </p:txBody>
      </p:sp>
      <p:sp>
        <p:nvSpPr>
          <p:cNvPr id="16" name="Text 14"/>
          <p:cNvSpPr/>
          <p:nvPr/>
        </p:nvSpPr>
        <p:spPr>
          <a:xfrm>
            <a:off x="4632960" y="4389120"/>
            <a:ext cx="70713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deviation from zero. Positive ES = members at TOP (upregulated). Negative = at BOTTOM (downregulated).</a:t>
            </a:r>
            <a:endParaRPr lang="en-US" sz="1467"/>
          </a:p>
        </p:txBody>
      </p:sp>
      <p:sp>
        <p:nvSpPr>
          <p:cNvPr id="17" name="Shape 15"/>
          <p:cNvSpPr/>
          <p:nvPr/>
        </p:nvSpPr>
        <p:spPr>
          <a:xfrm>
            <a:off x="731520" y="5547360"/>
            <a:ext cx="548640" cy="548640"/>
          </a:xfrm>
          <a:prstGeom prst="ellipse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8" name="Text 16"/>
          <p:cNvSpPr/>
          <p:nvPr/>
        </p:nvSpPr>
        <p:spPr>
          <a:xfrm>
            <a:off x="731520" y="554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1524000" y="5486400"/>
            <a:ext cx="30480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 testing</a:t>
            </a:r>
            <a:endParaRPr lang="en-US" sz="1733"/>
          </a:p>
        </p:txBody>
      </p:sp>
      <p:sp>
        <p:nvSpPr>
          <p:cNvPr id="20" name="Text 18"/>
          <p:cNvSpPr/>
          <p:nvPr/>
        </p:nvSpPr>
        <p:spPr>
          <a:xfrm>
            <a:off x="4632960" y="5486400"/>
            <a:ext cx="70713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ES to null from gene label permutation. NES = ES / mean(null). FDR for multiple testing.</a:t>
            </a:r>
            <a:endParaRPr lang="en-US" sz="1467"/>
          </a:p>
        </p:txBody>
      </p:sp>
      <p:sp>
        <p:nvSpPr>
          <p:cNvPr id="21" name="Text 19"/>
          <p:cNvSpPr/>
          <p:nvPr/>
        </p:nvSpPr>
        <p:spPr>
          <a:xfrm>
            <a:off x="731520" y="63398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Subramanian et al. (2005) PNAS  |  Tools: fgsea, clusterProfiler::GSEA(), GSEA (Broad Institute)</a:t>
            </a:r>
            <a:endParaRPr lang="en-US" sz="1333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 vs GSEA: When to Use Which</a:t>
            </a:r>
            <a:endParaRPr lang="en-US" sz="3467"/>
          </a:p>
        </p:txBody>
      </p:sp>
      <p:graphicFrame>
        <p:nvGraphicFramePr>
          <p:cNvPr id="31" name="Table 0"/>
          <p:cNvGraphicFramePr>
            <a:graphicFrameLocks noGrp="1"/>
          </p:cNvGraphicFramePr>
          <p:nvPr/>
        </p:nvGraphicFramePr>
        <p:xfrm>
          <a:off x="365760" y="1341120"/>
          <a:ext cx="11460480" cy="4267200"/>
        </p:xfrm>
        <a:graphic>
          <a:graphicData uri="http://schemas.openxmlformats.org/drawingml/2006/table">
            <a:tbl>
              <a:tblPr/>
              <a:tblGrid>
                <a:gridCol w="268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GSEA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gene list (binary: DE or not)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genes ranked by metric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arbitrary cutoff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threshold needed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info?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membership only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uses magnitude of change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Subtle effects?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many-gene-small-change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coordinated small changes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Direction?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inherent (split up/down)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positive/negative NES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(permutation)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analysis; clustering results;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non-ranked lists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results with rankings;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subtle pathway effects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217920"/>
            <a:ext cx="10728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If you have DE results with gene rankings, prefer GSEA. Use ORA for quick checks or non-ranked lists.</a:t>
            </a:r>
            <a:endParaRPr lang="en-US" sz="16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Critical: Choosing the Right Background</a:t>
            </a:r>
            <a:endParaRPr lang="en-US" sz="3467"/>
          </a:p>
        </p:txBody>
      </p:sp>
      <p:sp>
        <p:nvSpPr>
          <p:cNvPr id="4" name="Text 2"/>
          <p:cNvSpPr/>
          <p:nvPr/>
        </p:nvSpPr>
        <p:spPr>
          <a:xfrm>
            <a:off x="731520" y="13411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ORA, background gene set dramatically affects results. Wrong choice inflates false positives.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609600" y="2194560"/>
            <a:ext cx="51206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6" name="Shape 4"/>
          <p:cNvSpPr/>
          <p:nvPr/>
        </p:nvSpPr>
        <p:spPr>
          <a:xfrm>
            <a:off x="609600" y="2194560"/>
            <a:ext cx="73152" cy="2804160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SA" sz="240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23164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1120" y="2316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WRONG: Full genome as background</a:t>
            </a:r>
            <a:endParaRPr lang="en-US" sz="1733"/>
          </a:p>
        </p:txBody>
      </p:sp>
      <p:sp>
        <p:nvSpPr>
          <p:cNvPr id="9" name="Text 6"/>
          <p:cNvSpPr/>
          <p:nvPr/>
        </p:nvSpPr>
        <p:spPr>
          <a:xfrm>
            <a:off x="914400" y="2804160"/>
            <a:ext cx="4511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~20,000 genes when only 12,000 expressed. Inflates denominator → false enrichment of tissue-specific pathways.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>
          <a:xfrm>
            <a:off x="6461760" y="2194560"/>
            <a:ext cx="51206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A" sz="2400"/>
          </a:p>
        </p:txBody>
      </p:sp>
      <p:sp>
        <p:nvSpPr>
          <p:cNvPr id="11" name="Shape 8"/>
          <p:cNvSpPr/>
          <p:nvPr/>
        </p:nvSpPr>
        <p:spPr>
          <a:xfrm>
            <a:off x="6461760" y="2194560"/>
            <a:ext cx="73152" cy="28041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SA" sz="24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23164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93280" y="2316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RIGHT: Expressed genes only</a:t>
            </a:r>
            <a:endParaRPr lang="en-US" sz="1733"/>
          </a:p>
        </p:txBody>
      </p:sp>
      <p:sp>
        <p:nvSpPr>
          <p:cNvPr id="14" name="Text 10"/>
          <p:cNvSpPr/>
          <p:nvPr/>
        </p:nvSpPr>
        <p:spPr>
          <a:xfrm>
            <a:off x="6766560" y="2804160"/>
            <a:ext cx="4511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all detected/expressed genes (passing your pre-filter). Asks: "Among expressed genes, are DE genes enriched in this pathway?"</a:t>
            </a:r>
            <a:endParaRPr lang="en-US" sz="1600"/>
          </a:p>
        </p:txBody>
      </p:sp>
      <p:sp>
        <p:nvSpPr>
          <p:cNvPr id="15" name="Text 11"/>
          <p:cNvSpPr/>
          <p:nvPr/>
        </p:nvSpPr>
        <p:spPr>
          <a:xfrm>
            <a:off x="731520" y="536448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#1 most common mistake in enrichment analysis. Always specify the 'universe' parameter.</a:t>
            </a:r>
            <a:endParaRPr lang="en-US" sz="1867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Visualizing Enrichment Results</a:t>
            </a:r>
            <a:endParaRPr lang="en-US" sz="3467"/>
          </a:p>
        </p:txBody>
      </p:sp>
      <p:sp>
        <p:nvSpPr>
          <p:cNvPr id="4" name="Shape 2"/>
          <p:cNvSpPr/>
          <p:nvPr/>
        </p:nvSpPr>
        <p:spPr>
          <a:xfrm>
            <a:off x="731520" y="1402080"/>
            <a:ext cx="73152" cy="670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5" name="Text 3"/>
          <p:cNvSpPr/>
          <p:nvPr/>
        </p:nvSpPr>
        <p:spPr>
          <a:xfrm>
            <a:off x="1036320" y="140208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 Plot</a:t>
            </a:r>
            <a:endParaRPr lang="en-US" sz="1733"/>
          </a:p>
        </p:txBody>
      </p:sp>
      <p:sp>
        <p:nvSpPr>
          <p:cNvPr id="6" name="Text 4"/>
          <p:cNvSpPr/>
          <p:nvPr/>
        </p:nvSpPr>
        <p:spPr>
          <a:xfrm>
            <a:off x="1036320" y="1743456"/>
            <a:ext cx="670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sets vs gene ratio. Size=count, color=padj.</a:t>
            </a:r>
            <a:endParaRPr lang="en-US" sz="1467"/>
          </a:p>
        </p:txBody>
      </p:sp>
      <p:sp>
        <p:nvSpPr>
          <p:cNvPr id="7" name="Text 5"/>
          <p:cNvSpPr/>
          <p:nvPr/>
        </p:nvSpPr>
        <p:spPr>
          <a:xfrm>
            <a:off x="7924800" y="1402080"/>
            <a:ext cx="37795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enrichplot::dotplot()</a:t>
            </a:r>
            <a:endParaRPr lang="en-US" sz="1333"/>
          </a:p>
        </p:txBody>
      </p:sp>
      <p:sp>
        <p:nvSpPr>
          <p:cNvPr id="8" name="Shape 6"/>
          <p:cNvSpPr/>
          <p:nvPr/>
        </p:nvSpPr>
        <p:spPr>
          <a:xfrm>
            <a:off x="731520" y="2255520"/>
            <a:ext cx="73152" cy="670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9" name="Text 7"/>
          <p:cNvSpPr/>
          <p:nvPr/>
        </p:nvSpPr>
        <p:spPr>
          <a:xfrm>
            <a:off x="1036320" y="225552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 Plot</a:t>
            </a:r>
            <a:endParaRPr lang="en-US" sz="1733"/>
          </a:p>
        </p:txBody>
      </p:sp>
      <p:sp>
        <p:nvSpPr>
          <p:cNvPr id="10" name="Text 8"/>
          <p:cNvSpPr/>
          <p:nvPr/>
        </p:nvSpPr>
        <p:spPr>
          <a:xfrm>
            <a:off x="1036320" y="2596896"/>
            <a:ext cx="670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for enriched terms. Clean for talks.</a:t>
            </a:r>
            <a:endParaRPr lang="en-US" sz="1467"/>
          </a:p>
        </p:txBody>
      </p:sp>
      <p:sp>
        <p:nvSpPr>
          <p:cNvPr id="11" name="Text 9"/>
          <p:cNvSpPr/>
          <p:nvPr/>
        </p:nvSpPr>
        <p:spPr>
          <a:xfrm>
            <a:off x="7924800" y="2255520"/>
            <a:ext cx="37795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barplot(ego)</a:t>
            </a:r>
            <a:endParaRPr lang="en-US" sz="1333"/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73152" cy="670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3" name="Text 11"/>
          <p:cNvSpPr/>
          <p:nvPr/>
        </p:nvSpPr>
        <p:spPr>
          <a:xfrm>
            <a:off x="1036320" y="310896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GSEA Plot</a:t>
            </a:r>
            <a:endParaRPr lang="en-US" sz="1733"/>
          </a:p>
        </p:txBody>
      </p:sp>
      <p:sp>
        <p:nvSpPr>
          <p:cNvPr id="14" name="Text 12"/>
          <p:cNvSpPr/>
          <p:nvPr/>
        </p:nvSpPr>
        <p:spPr>
          <a:xfrm>
            <a:off x="1036320" y="3450336"/>
            <a:ext cx="670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sum + barcode + rank metric for one set.</a:t>
            </a:r>
            <a:endParaRPr lang="en-US" sz="1467"/>
          </a:p>
        </p:txBody>
      </p:sp>
      <p:sp>
        <p:nvSpPr>
          <p:cNvPr id="15" name="Text 13"/>
          <p:cNvSpPr/>
          <p:nvPr/>
        </p:nvSpPr>
        <p:spPr>
          <a:xfrm>
            <a:off x="7924800" y="3108960"/>
            <a:ext cx="37795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plotEnrichment()</a:t>
            </a:r>
            <a:endParaRPr lang="en-US" sz="1333"/>
          </a:p>
        </p:txBody>
      </p:sp>
      <p:sp>
        <p:nvSpPr>
          <p:cNvPr id="16" name="Shape 14"/>
          <p:cNvSpPr/>
          <p:nvPr/>
        </p:nvSpPr>
        <p:spPr>
          <a:xfrm>
            <a:off x="731520" y="3962400"/>
            <a:ext cx="73152" cy="670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17" name="Text 15"/>
          <p:cNvSpPr/>
          <p:nvPr/>
        </p:nvSpPr>
        <p:spPr>
          <a:xfrm>
            <a:off x="1036320" y="396240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Enrichment Map</a:t>
            </a:r>
            <a:endParaRPr lang="en-US" sz="1733"/>
          </a:p>
        </p:txBody>
      </p:sp>
      <p:sp>
        <p:nvSpPr>
          <p:cNvPr id="18" name="Text 16"/>
          <p:cNvSpPr/>
          <p:nvPr/>
        </p:nvSpPr>
        <p:spPr>
          <a:xfrm>
            <a:off x="1036320" y="4303776"/>
            <a:ext cx="670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of overlapping gene sets. Reveals themes.</a:t>
            </a:r>
            <a:endParaRPr lang="en-US" sz="1467"/>
          </a:p>
        </p:txBody>
      </p:sp>
      <p:sp>
        <p:nvSpPr>
          <p:cNvPr id="19" name="Text 17"/>
          <p:cNvSpPr/>
          <p:nvPr/>
        </p:nvSpPr>
        <p:spPr>
          <a:xfrm>
            <a:off x="7924800" y="3962400"/>
            <a:ext cx="37795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enrichplot::emapplot()</a:t>
            </a:r>
            <a:endParaRPr lang="en-US" sz="1333"/>
          </a:p>
        </p:txBody>
      </p:sp>
      <p:sp>
        <p:nvSpPr>
          <p:cNvPr id="20" name="Shape 18"/>
          <p:cNvSpPr/>
          <p:nvPr/>
        </p:nvSpPr>
        <p:spPr>
          <a:xfrm>
            <a:off x="731520" y="4815840"/>
            <a:ext cx="73152" cy="670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21" name="Text 19"/>
          <p:cNvSpPr/>
          <p:nvPr/>
        </p:nvSpPr>
        <p:spPr>
          <a:xfrm>
            <a:off x="1036320" y="481584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 Network</a:t>
            </a:r>
            <a:endParaRPr lang="en-US" sz="1733"/>
          </a:p>
        </p:txBody>
      </p:sp>
      <p:sp>
        <p:nvSpPr>
          <p:cNvPr id="22" name="Text 20"/>
          <p:cNvSpPr/>
          <p:nvPr/>
        </p:nvSpPr>
        <p:spPr>
          <a:xfrm>
            <a:off x="1036320" y="5157216"/>
            <a:ext cx="670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shared across terms. Identifies hub genes.</a:t>
            </a:r>
            <a:endParaRPr lang="en-US" sz="1467"/>
          </a:p>
        </p:txBody>
      </p:sp>
      <p:sp>
        <p:nvSpPr>
          <p:cNvPr id="23" name="Text 21"/>
          <p:cNvSpPr/>
          <p:nvPr/>
        </p:nvSpPr>
        <p:spPr>
          <a:xfrm>
            <a:off x="7924800" y="4815840"/>
            <a:ext cx="37795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enrichplot::cnetplot()</a:t>
            </a:r>
            <a:endParaRPr lang="en-US" sz="1333"/>
          </a:p>
        </p:txBody>
      </p:sp>
      <p:sp>
        <p:nvSpPr>
          <p:cNvPr id="24" name="Shape 22"/>
          <p:cNvSpPr/>
          <p:nvPr/>
        </p:nvSpPr>
        <p:spPr>
          <a:xfrm>
            <a:off x="731520" y="5669280"/>
            <a:ext cx="73152" cy="670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25" name="Text 23"/>
          <p:cNvSpPr/>
          <p:nvPr/>
        </p:nvSpPr>
        <p:spPr>
          <a:xfrm>
            <a:off x="1036320" y="566928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 Render</a:t>
            </a:r>
            <a:endParaRPr lang="en-US" sz="1733"/>
          </a:p>
        </p:txBody>
      </p:sp>
      <p:sp>
        <p:nvSpPr>
          <p:cNvPr id="26" name="Text 24"/>
          <p:cNvSpPr/>
          <p:nvPr/>
        </p:nvSpPr>
        <p:spPr>
          <a:xfrm>
            <a:off x="1036320" y="6010656"/>
            <a:ext cx="670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KEGG diagram colored by DE. Shows gene interactions.</a:t>
            </a:r>
            <a:endParaRPr lang="en-US" sz="1467"/>
          </a:p>
        </p:txBody>
      </p:sp>
      <p:sp>
        <p:nvSpPr>
          <p:cNvPr id="27" name="Text 25"/>
          <p:cNvSpPr/>
          <p:nvPr/>
        </p:nvSpPr>
        <p:spPr>
          <a:xfrm>
            <a:off x="7924800" y="5669280"/>
            <a:ext cx="37795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pathview::pathview()</a:t>
            </a:r>
            <a:endParaRPr lang="en-US" sz="1333"/>
          </a:p>
        </p:txBody>
      </p:sp>
      <p:sp>
        <p:nvSpPr>
          <p:cNvPr id="28" name="Text 26"/>
          <p:cNvSpPr/>
          <p:nvPr/>
        </p:nvSpPr>
        <p:spPr>
          <a:xfrm>
            <a:off x="731520" y="63398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enrichplot and clusterProfiler for publication-quality figures. Combine multiple views for full picture.</a:t>
            </a:r>
            <a:endParaRPr lang="en-US" sz="16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Pitfalls in Enrichment Analysis</a:t>
            </a:r>
            <a:endParaRPr lang="en-US" sz="3467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41120"/>
            <a:ext cx="426720" cy="426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19200" y="1402080"/>
            <a:ext cx="102412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these mistakes to prevent misleading results.</a:t>
            </a:r>
            <a:endParaRPr lang="en-US" sz="200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036064"/>
            <a:ext cx="268224" cy="2682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9744" y="20116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genome as ORA background</a:t>
            </a:r>
            <a:endParaRPr lang="en-US" sz="1467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036064"/>
            <a:ext cx="268224" cy="2682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61760" y="20116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expressed/detected genes</a:t>
            </a:r>
            <a:endParaRPr lang="en-US" sz="1467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645664"/>
            <a:ext cx="268224" cy="2682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99744" y="26212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raw p-values</a:t>
            </a:r>
            <a:endParaRPr lang="en-US" sz="1467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645664"/>
            <a:ext cx="268224" cy="2682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461760" y="26212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apply and report FDR correction</a:t>
            </a:r>
            <a:endParaRPr lang="en-US" sz="1467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255264"/>
            <a:ext cx="268224" cy="2682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999744" y="32308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Cherry-picking one enriched term</a:t>
            </a:r>
            <a:endParaRPr lang="en-US" sz="1467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255264"/>
            <a:ext cx="268224" cy="26822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461760" y="32308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all significant; reduce redundancy</a:t>
            </a:r>
            <a:endParaRPr lang="en-US" sz="1467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864864"/>
            <a:ext cx="268224" cy="2682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999744" y="38404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ORA when GSEA is better</a:t>
            </a:r>
            <a:endParaRPr lang="en-US" sz="1467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864864"/>
            <a:ext cx="268224" cy="2682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461760" y="38404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GSEA when you have DE rankings</a:t>
            </a:r>
            <a:endParaRPr lang="en-US" sz="1467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474464"/>
            <a:ext cx="268224" cy="2682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999744" y="44500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gene ID mapping issues</a:t>
            </a:r>
            <a:endParaRPr lang="en-US" sz="1467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474464"/>
            <a:ext cx="268224" cy="2682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6461760" y="44500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conversions; check unmapped genes</a:t>
            </a:r>
            <a:endParaRPr lang="en-US" sz="1467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084064"/>
            <a:ext cx="268224" cy="2682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999744" y="50596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only one database</a:t>
            </a:r>
            <a:endParaRPr lang="en-US" sz="1467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084064"/>
            <a:ext cx="268224" cy="2682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6461760" y="50596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Cross-validate: GO + KEGG + Reactome</a:t>
            </a:r>
            <a:endParaRPr lang="en-US" sz="1467"/>
          </a:p>
        </p:txBody>
      </p:sp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693664"/>
            <a:ext cx="268224" cy="2682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999744" y="56692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gene set size</a:t>
            </a:r>
            <a:endParaRPr lang="en-US" sz="1467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693664"/>
            <a:ext cx="268224" cy="2682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6461760" y="5669280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keep 15–500 genes per set</a:t>
            </a:r>
            <a:endParaRPr lang="en-US" sz="1467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SA" sz="2400"/>
          </a:p>
        </p:txBody>
      </p:sp>
      <p:sp>
        <p:nvSpPr>
          <p:cNvPr id="3" name="Text 1"/>
          <p:cNvSpPr/>
          <p:nvPr/>
        </p:nvSpPr>
        <p:spPr>
          <a:xfrm>
            <a:off x="731520" y="243840"/>
            <a:ext cx="10728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 Tips for Interpretation</a:t>
            </a:r>
            <a:endParaRPr lang="en-US" sz="3467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499616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8240" y="140208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for themes, not individual terms</a:t>
            </a:r>
            <a:endParaRPr lang="en-US" sz="1733"/>
          </a:p>
        </p:txBody>
      </p:sp>
      <p:sp>
        <p:nvSpPr>
          <p:cNvPr id="6" name="Text 3"/>
          <p:cNvSpPr/>
          <p:nvPr/>
        </p:nvSpPr>
        <p:spPr>
          <a:xfrm>
            <a:off x="5486400" y="140208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multiple immune terms enriched? That's more convincing than one. Cluster related results.</a:t>
            </a:r>
            <a:endParaRPr lang="en-US" sz="160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7251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58240" y="2474976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 gene overlap across terms</a:t>
            </a:r>
            <a:endParaRPr lang="en-US" sz="1733"/>
          </a:p>
        </p:txBody>
      </p:sp>
      <p:sp>
        <p:nvSpPr>
          <p:cNvPr id="9" name="Text 5"/>
          <p:cNvSpPr/>
          <p:nvPr/>
        </p:nvSpPr>
        <p:spPr>
          <a:xfrm>
            <a:off x="5486400" y="2474976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cnetplot/UpSet plots. If one gene drives many terms, may be artifact.</a:t>
            </a:r>
            <a:endParaRPr lang="en-US" sz="16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45408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8240" y="3547872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Validate with orthogonal data</a:t>
            </a:r>
            <a:endParaRPr lang="en-US" sz="1733"/>
          </a:p>
        </p:txBody>
      </p:sp>
      <p:sp>
        <p:nvSpPr>
          <p:cNvPr id="12" name="Text 7"/>
          <p:cNvSpPr/>
          <p:nvPr/>
        </p:nvSpPr>
        <p:spPr>
          <a:xfrm>
            <a:off x="5486400" y="3547872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with protein data, literature, independent datasets. Enrichment is hypothesis-generating.</a:t>
            </a:r>
            <a:endParaRPr lang="en-US" sz="160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718304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58240" y="4620768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 biological context</a:t>
            </a:r>
            <a:endParaRPr lang="en-US" sz="1733"/>
          </a:p>
        </p:txBody>
      </p:sp>
      <p:sp>
        <p:nvSpPr>
          <p:cNvPr id="15" name="Text 9"/>
          <p:cNvSpPr/>
          <p:nvPr/>
        </p:nvSpPr>
        <p:spPr>
          <a:xfrm>
            <a:off x="5486400" y="4620768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enrichment make biological sense given your experimental system? Unexpected results need careful scrutiny.</a:t>
            </a:r>
            <a:endParaRPr lang="en-US" sz="160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579120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58240" y="5693664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methods transparently</a:t>
            </a:r>
            <a:endParaRPr lang="en-US" sz="1733"/>
          </a:p>
        </p:txBody>
      </p:sp>
      <p:sp>
        <p:nvSpPr>
          <p:cNvPr id="18" name="Text 11"/>
          <p:cNvSpPr/>
          <p:nvPr/>
        </p:nvSpPr>
        <p:spPr>
          <a:xfrm>
            <a:off x="5486400" y="5693664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Database(s), method (ORA/GSEA), ranking metric, background, correction, software versions.</a:t>
            </a:r>
            <a:endParaRPr lang="en-US" sz="16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46196-E07C-707B-1482-9BD5BAB9B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6236"/>
            <a:ext cx="10515600" cy="1325563"/>
          </a:xfrm>
        </p:spPr>
        <p:txBody>
          <a:bodyPr/>
          <a:lstStyle/>
          <a:p>
            <a:r>
              <a:rPr lang="en-US">
                <a:solidFill>
                  <a:schemeClr val="accent2">
                    <a:lumMod val="49000"/>
                  </a:schemeClr>
                </a:solidFill>
                <a:latin typeface="ADLaM Display"/>
                <a:ea typeface="+mj-lt"/>
                <a:cs typeface="+mj-lt"/>
              </a:rPr>
              <a:t>Gene Ontology (GO)</a:t>
            </a:r>
            <a:endParaRPr lang="en-US">
              <a:solidFill>
                <a:schemeClr val="accent2">
                  <a:lumMod val="49000"/>
                </a:schemeClr>
              </a:solidFill>
              <a:latin typeface="ADLaM Display"/>
              <a:ea typeface="ADLaM Display"/>
              <a:cs typeface="ADLaM Display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BCD3B-96E4-BFC8-500A-ADB4AEB3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903" y="1717220"/>
            <a:ext cx="7029451" cy="51435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12AA5B-11BD-5EF2-9F8D-F8391254A96F}"/>
              </a:ext>
            </a:extLst>
          </p:cNvPr>
          <p:cNvSpPr txBox="1"/>
          <p:nvPr/>
        </p:nvSpPr>
        <p:spPr>
          <a:xfrm>
            <a:off x="8620215" y="1828618"/>
            <a:ext cx="3576320" cy="48013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1">
                <a:ea typeface="+mn-lt"/>
                <a:cs typeface="+mn-lt"/>
              </a:rPr>
              <a:t>What does this gene do?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Biological Process</a:t>
            </a:r>
            <a:r>
              <a:rPr lang="en-US">
                <a:ea typeface="+mn-lt"/>
                <a:cs typeface="+mn-lt"/>
              </a:rPr>
              <a:t> → what is happening</a:t>
            </a:r>
            <a:br>
              <a:rPr lang="en-US">
                <a:ea typeface="+mn-lt"/>
                <a:cs typeface="+mn-lt"/>
              </a:rPr>
            </a:br>
            <a:r>
              <a:rPr lang="en-US">
                <a:ea typeface="+mn-lt"/>
                <a:cs typeface="+mn-lt"/>
              </a:rPr>
              <a:t> </a:t>
            </a:r>
            <a:r>
              <a:rPr lang="en-US" i="1">
                <a:ea typeface="+mn-lt"/>
                <a:cs typeface="+mn-lt"/>
              </a:rPr>
              <a:t>(e.g. cell division, neuron signaling)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i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Molecular Function</a:t>
            </a:r>
            <a:r>
              <a:rPr lang="en-US">
                <a:ea typeface="+mn-lt"/>
                <a:cs typeface="+mn-lt"/>
              </a:rPr>
              <a:t> → what the gene does</a:t>
            </a:r>
            <a:br>
              <a:rPr lang="en-US">
                <a:ea typeface="+mn-lt"/>
                <a:cs typeface="+mn-lt"/>
              </a:rPr>
            </a:br>
            <a:r>
              <a:rPr lang="en-US">
                <a:ea typeface="+mn-lt"/>
                <a:cs typeface="+mn-lt"/>
              </a:rPr>
              <a:t> </a:t>
            </a:r>
            <a:r>
              <a:rPr lang="en-US" i="1">
                <a:ea typeface="+mn-lt"/>
                <a:cs typeface="+mn-lt"/>
              </a:rPr>
              <a:t>(e.g. enzyme, receptor)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i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Cellular Component</a:t>
            </a:r>
            <a:r>
              <a:rPr lang="en-US">
                <a:ea typeface="+mn-lt"/>
                <a:cs typeface="+mn-lt"/>
              </a:rPr>
              <a:t> → where it works</a:t>
            </a:r>
            <a:br>
              <a:rPr lang="en-US">
                <a:ea typeface="+mn-lt"/>
                <a:cs typeface="+mn-lt"/>
              </a:rPr>
            </a:br>
            <a:r>
              <a:rPr lang="en-US">
                <a:ea typeface="+mn-lt"/>
                <a:cs typeface="+mn-lt"/>
              </a:rPr>
              <a:t> </a:t>
            </a:r>
            <a:r>
              <a:rPr lang="en-US" i="1">
                <a:ea typeface="+mn-lt"/>
                <a:cs typeface="+mn-lt"/>
              </a:rPr>
              <a:t>(e.g. nucleus, synapse)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i="1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Think of GO as </a:t>
            </a:r>
            <a:r>
              <a:rPr lang="en-US" b="1">
                <a:ea typeface="+mn-lt"/>
                <a:cs typeface="+mn-lt"/>
              </a:rPr>
              <a:t>labels describing gene functions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 algn="l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686F3-4295-CBC7-7457-9A5FEED26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39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EC84-9DB2-49EF-B045-9970C656A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C31C81-2C4D-D10B-3093-21C4006E8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118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2447D-4DB7-6FA4-6324-639022D84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320" y="131445"/>
            <a:ext cx="10515600" cy="1325563"/>
          </a:xfrm>
        </p:spPr>
        <p:txBody>
          <a:bodyPr/>
          <a:lstStyle/>
          <a:p>
            <a:r>
              <a:rPr lang="en-US">
                <a:solidFill>
                  <a:schemeClr val="accent2">
                    <a:lumMod val="49000"/>
                  </a:schemeClr>
                </a:solidFill>
                <a:latin typeface="ADLaM Display"/>
                <a:ea typeface="ADLaM Display"/>
                <a:cs typeface="ADLaM Display"/>
              </a:rPr>
              <a:t>KEGG</a:t>
            </a:r>
          </a:p>
        </p:txBody>
      </p:sp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B96463AB-C75F-37CD-5DA5-BA21AB74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08" y="1349829"/>
            <a:ext cx="6069214" cy="52033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CBCF32-53E0-B781-7242-0E8EAFBBF1F4}"/>
              </a:ext>
            </a:extLst>
          </p:cNvPr>
          <p:cNvSpPr txBox="1"/>
          <p:nvPr/>
        </p:nvSpPr>
        <p:spPr>
          <a:xfrm>
            <a:off x="7326086" y="2198914"/>
            <a:ext cx="4307840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1"/>
              <a:t>How do genes work together?</a:t>
            </a:r>
          </a:p>
          <a:p>
            <a:pPr marL="228600" indent="-228600">
              <a:buFont typeface=""/>
              <a:buChar char="•"/>
            </a:pPr>
            <a:r>
              <a:rPr lang="en-US"/>
              <a:t>Shows </a:t>
            </a:r>
            <a:r>
              <a:rPr lang="en-US" b="1"/>
              <a:t>pathways</a:t>
            </a:r>
            <a:r>
              <a:rPr lang="en-US"/>
              <a:t> (step-by-step biological processes)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indent="-228600">
              <a:buFont typeface=""/>
              <a:buChar char="•"/>
            </a:pPr>
            <a:r>
              <a:rPr lang="en-US"/>
              <a:t>Genes are connected by </a:t>
            </a:r>
            <a:r>
              <a:rPr lang="en-US" b="1"/>
              <a:t>arrows and interactions</a:t>
            </a:r>
          </a:p>
          <a:p>
            <a:pPr marL="228600" indent="-228600">
              <a:buFont typeface=""/>
              <a:buChar char="•"/>
            </a:pPr>
            <a:r>
              <a:rPr lang="en-US"/>
              <a:t>Examples: signaling pathways, metabolism pathways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indent="-228600">
              <a:buFont typeface=""/>
              <a:buChar char="•"/>
            </a:pPr>
            <a:endParaRPr lang="en-US"/>
          </a:p>
          <a:p>
            <a:r>
              <a:rPr lang="en-US"/>
              <a:t> Think of KEGG as a </a:t>
            </a:r>
            <a:r>
              <a:rPr lang="en-US" b="1"/>
              <a:t>map of biological pathways</a:t>
            </a:r>
            <a:r>
              <a:rPr lang="en-US"/>
              <a:t>.</a:t>
            </a:r>
          </a:p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909B-111A-D576-28B3-1C7F27463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40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9A324-3645-A4F8-5022-45FF675D4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ED9ABF-460B-FF9F-7C3D-CAB2224CE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235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BA4EC-1AC2-7B67-48B8-43068119E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>
                <a:solidFill>
                  <a:schemeClr val="accent2">
                    <a:lumMod val="49000"/>
                  </a:schemeClr>
                </a:solidFill>
                <a:latin typeface="ADLaM Display"/>
                <a:ea typeface="+mj-lt"/>
                <a:cs typeface="+mj-lt"/>
              </a:rPr>
              <a:t>Example of Dot Plot for Enrichment</a:t>
            </a:r>
            <a:endParaRPr lang="en-US">
              <a:solidFill>
                <a:schemeClr val="accent2">
                  <a:lumMod val="49000"/>
                </a:schemeClr>
              </a:solidFill>
              <a:latin typeface="ADLaM Display"/>
              <a:ea typeface="ADLaM Display"/>
              <a:cs typeface="ADLaM Display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6C4B7D1-28F3-3DE4-609D-92EC8A89D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570" y="1680460"/>
            <a:ext cx="5935420" cy="4876800"/>
          </a:xfrm>
          <a:prstGeom prst="rect">
            <a:avLst/>
          </a:prstGeom>
        </p:spPr>
      </p:pic>
      <p:pic>
        <p:nvPicPr>
          <p:cNvPr id="5" name="Picture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72AC1081-D38E-74F9-A26A-5CE5CB58D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02" y="1682525"/>
            <a:ext cx="5468711" cy="455975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805C0-3FB6-25A9-C35A-CE33D1C37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533CB-23B1-48C7-B97B-F540AD34D375}" type="slidenum">
              <a:rPr lang="en-US" smtClean="0"/>
              <a:t>41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B50CD-D33D-4169-BF57-8792C7EAE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KAUST Bioinformatics Platform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098118-D46F-F259-D521-4B5272B39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 Feb 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9703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First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real RNA-seq study on GEO.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— Where RNA-seq Studies Live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10972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1005840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 Expression Omnibus) is NCBI's archive of every published gene expression study — including </a:t>
            </a:r>
            <a:r>
              <a:rPr lang="en-US" sz="17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RNA-seq experiments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full data and metadata.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3291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GEO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611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ncbi.nlm.nih.gov/geo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023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'airway dexamethasone RNA-seq'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6304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get many hits — find Himes 2014 (GSE52778, our airway dataset)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4754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GSE entry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 = study identifier. You'll see the full study description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557784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5577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metadata table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samples they used, what conditions they compared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Code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PyDESeq2 on control vs dex airway samples.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Day 6 Part 2 notebook. Today's analysis: 3 control vs 3 dex-treated airway samples (real Himes 2014 data).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103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airway count matrix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2468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airway data as yesterday, now with control vs dex condition labels.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PyDESeq2 in 4 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246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up, fit, get results — that's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3657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INS and other DE genes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023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FKBP5, DUSP1, KLF15 significantly UP in dex? (Spoiler: yes)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80160" y="4434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volcano plot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4800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your DE genes at once — the iconic chart.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5303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80160" y="52120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of top DE genes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Z-scored expression patterns across all 6 samples.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44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0312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6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 – 7:00 PM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0" y="45720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break — PyDESeq2 in action.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 Today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differential expression 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genes that change between two groups (e.g., control vs drug treatment).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numbers per gene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 change (how MUCH) + adjusted p-value (how CONFIDENT).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33756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adjust for multiple testing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20,000 genes naively → 1,000 false hits. FDR fixes that.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PyDESeq2 in 4 lines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4526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Python version of the gold-standard DE tool.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2960" y="516636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296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630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 plots and heatmaps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63040" y="5440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visualize your DE results — top-left + top-right corners are the gold.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54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Next Weekend — The Reveal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Bioinformatics  |  Day 6  |  HCT Cohort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4 (May 15 &amp; 16) — Single-cell RNA-seq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</a:rPr>
              <a:t>Today's analysis told us WHICH genes change in dex-treated airway cells — but bulk RNA-seq mixed all the cells together. We don't know whether dex affected EVERY cell, or only some cells.  Next weekend we'll use single-cell RNA-seq to resolve individual cell types — and ask not just WHICH genes change, but IN WHICH CELLS the changes happen.</a:t>
            </a:r>
            <a:r>
              <a:rPr lang="en-US" sz="1400" dirty="0">
                <a:solidFill>
                  <a:srgbClr val="1E293B"/>
                </a:solidFill>
              </a:rPr>
              <a:t/>
            </a:r>
            <a:r>
              <a:rPr lang="en-US" sz="1400" b="1" dirty="0">
                <a:solidFill>
                  <a:srgbClr val="028090"/>
                </a:solidFill>
              </a:rPr>
              <a:t/>
            </a:r>
            <a:r>
              <a:rPr lang="en-US" sz="1400" dirty="0">
                <a:solidFill>
                  <a:srgbClr val="1E293B"/>
                </a:solidFill>
              </a:rPr>
              <a:t/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moment scRNA-seq will earn its reputation as the most exciting tool in genomics.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solidFill>
            <a:srgbClr val="05445E"/>
          </a:solidFill>
          <a:ln w="12700">
            <a:solidFill>
              <a:srgbClr val="0544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finished Weekend 3 — bulk RNA-seq, end to end.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see you next Friday.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3861</Words>
  <Application>Microsoft Office PowerPoint</Application>
  <PresentationFormat>Widescreen</PresentationFormat>
  <Paragraphs>586</Paragraphs>
  <Slides>48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ADLaM Display</vt:lpstr>
      <vt:lpstr>Arial</vt:lpstr>
      <vt:lpstr>Calibri</vt:lpstr>
      <vt:lpstr>Candara</vt:lpstr>
      <vt:lpstr>Consolas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Visualize the result: </vt:lpstr>
      <vt:lpstr>Towards Biological Meaning:  Visualization &amp; Reporting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Heatmaps and Clustering</vt:lpstr>
      <vt:lpstr>Heatmaps and Clustering</vt:lpstr>
      <vt:lpstr>Heatmaps and Clustering</vt:lpstr>
      <vt:lpstr> Pathway &amp; Enrichment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 Ontology (GO)</vt:lpstr>
      <vt:lpstr>KEGG</vt:lpstr>
      <vt:lpstr>Example of Dot Plot for Enrichment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6 — Differential Expression</dc:title>
  <dc:subject>PptxGenJS Presentation</dc:subject>
  <dc:creator>Norah AlGhamdi</dc:creator>
  <cp:lastModifiedBy>Norah AlGhamdi</cp:lastModifiedBy>
  <cp:revision>2</cp:revision>
  <dcterms:created xsi:type="dcterms:W3CDTF">2026-05-05T12:11:09Z</dcterms:created>
  <dcterms:modified xsi:type="dcterms:W3CDTF">2026-05-06T11:28:16Z</dcterms:modified>
</cp:coreProperties>
</file>