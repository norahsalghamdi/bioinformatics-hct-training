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801" r:id="rId6"/>
    <p:sldId id="260" r:id="rId7"/>
    <p:sldId id="261" r:id="rId8"/>
    <p:sldId id="262" r:id="rId9"/>
    <p:sldId id="263" r:id="rId10"/>
    <p:sldId id="264" r:id="rId11"/>
    <p:sldId id="795" r:id="rId12"/>
    <p:sldId id="265" r:id="rId13"/>
    <p:sldId id="266" r:id="rId14"/>
    <p:sldId id="267" r:id="rId15"/>
    <p:sldId id="268" r:id="rId16"/>
    <p:sldId id="269" r:id="rId17"/>
    <p:sldId id="741" r:id="rId18"/>
    <p:sldId id="270" r:id="rId19"/>
    <p:sldId id="796" r:id="rId20"/>
    <p:sldId id="271" r:id="rId21"/>
    <p:sldId id="797" r:id="rId22"/>
    <p:sldId id="798" r:id="rId23"/>
    <p:sldId id="799" r:id="rId24"/>
    <p:sldId id="800" r:id="rId25"/>
    <p:sldId id="272" r:id="rId26"/>
    <p:sldId id="784" r:id="rId27"/>
    <p:sldId id="758" r:id="rId28"/>
    <p:sldId id="783" r:id="rId29"/>
    <p:sldId id="786" r:id="rId30"/>
    <p:sldId id="742" r:id="rId31"/>
    <p:sldId id="787" r:id="rId32"/>
    <p:sldId id="788" r:id="rId33"/>
    <p:sldId id="789" r:id="rId34"/>
    <p:sldId id="790" r:id="rId35"/>
    <p:sldId id="280" r:id="rId36"/>
    <p:sldId id="281" r:id="rId37"/>
    <p:sldId id="793" r:id="rId38"/>
    <p:sldId id="743" r:id="rId39"/>
    <p:sldId id="794" r:id="rId40"/>
    <p:sldId id="283" r:id="rId41"/>
    <p:sldId id="288" r:id="rId42"/>
    <p:sldId id="290" r:id="rId43"/>
    <p:sldId id="273" r:id="rId44"/>
    <p:sldId id="274" r:id="rId45"/>
    <p:sldId id="275" r:id="rId46"/>
    <p:sldId id="276" r:id="rId47"/>
    <p:sldId id="277" r:id="rId48"/>
    <p:sldId id="278" r:id="rId49"/>
    <p:sldId id="279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23E54-D410-4AC9-9894-18B722FB67BB}" v="11" dt="2026-05-09T11:44:14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94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A832-2B3B-5356-0396-DD8C0B8F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833A4-C1FC-F674-F977-AB90E8EBB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63EC-EBB1-39FA-5A54-86388F433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B9905-01E1-A6F9-E3D8-AC262A3EB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13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601E-4AE8-03B5-74FF-B25AF782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3CAB6-F1DE-8891-978B-D325395B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8B67-4DCE-92D6-3D73-80A2FDA0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 Feb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7124-6953-709F-DB7B-BC4FDAFC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KAUST Bioinformatics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59311-1FBE-47EE-04D8-3A0B006E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33CB-23B1-48C7-B97B-F540AD34D37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704254-BB75-D17E-6FB6-EB7A5DDD6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978" y="0"/>
            <a:ext cx="1716938" cy="9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7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30DE-77B0-E5F9-EAAC-2B572AB16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32123-AC80-2915-6244-067721044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6F42-0A58-EDA4-5D8F-58B7DC7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06 Feb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FD3D-9410-F065-53F3-CB86FE77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/>
            </a:lvl1pPr>
          </a:lstStyle>
          <a:p>
            <a:r>
              <a:rPr lang="en-US"/>
              <a:t>KAUST Bioinformatics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5E86B-EFF4-FAF5-5FD8-00C93DB3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52874-592A-336A-52AF-BC776C8559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524" y="0"/>
            <a:ext cx="1602476" cy="89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0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B861-A7E7-725A-1AB2-552E0AB2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DA608-F8D6-64B0-1AD3-A57F361E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06 Feb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B5201-763F-4C52-1E22-D21A8F82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KAUST Bioinformatics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96EBE-1083-854E-D32E-3F300F1E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33CB-23B1-48C7-B97B-F540AD34D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0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5720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0" y="128016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210312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0" y="292608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0" y="374904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0" y="457200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Differential Expression Analysis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Colleges of Technology Cohort  |  KAUST Academy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Norah AlGhamdi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Saturday, May 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to Day 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we loaded a real airway RNA-seq count matrix and saw the conditions clearly separate on PCA.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37160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mystery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we loaded a real airway RNA-seq count matrix (3 control + 3 dex-treated samples) and saw on PCA that the two conditions clearly separate, </a:t>
            </a:r>
            <a:r>
              <a:rPr lang="en-US" sz="14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have not yet asked which specific genes drive that separation.</a:t>
            </a:r>
            <a:endParaRPr lang="en-US" sz="1400" u="sng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learn the tool that lets us COMPARE conditions and find which genes actually change. Then next weekend, scRNA-seq adds another dimension: </a:t>
            </a:r>
            <a:r>
              <a:rPr lang="en-US" sz="1400" i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WHICH genes change, but in WHICH cell types.</a:t>
            </a:r>
            <a:endParaRPr lang="en-US" sz="1400" u="sng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differential expression  finding genes that DIFFER between conditions.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differential expression?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find genes that change between two groups (e.g., healthy vs diseased).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PyDESeq2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057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version of DESeq2 — the gold-standard DE tool.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 results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fold changes, p-values, and FDR — what each one means.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804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volcano plot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4343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iconic chart in RNA-seq — see all your DE genes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3:15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13716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· Recap Day 5 · Today's plan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8366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83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4:00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883664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What is differential expression?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4:30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395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Statistics, fold changes, FDR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– 5:00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29077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Volcano plots and how to read them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4198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6:00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341985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Browse: explore an RNA-seq study on GEO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6424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39319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443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– 7:45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63240" y="4443984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PyDESeq2 on Control vs Dex airway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9560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7:45 – 8:30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63240" y="49560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build a volcano plot, find DE genes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468112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54681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63240" y="54681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Preview of Weekend 4 (the scRNA reveal!)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1DEC3D-BBAC-9F66-FCB8-FE425F83CEBB}"/>
              </a:ext>
            </a:extLst>
          </p:cNvPr>
          <p:cNvSpPr txBox="1"/>
          <p:nvPr/>
        </p:nvSpPr>
        <p:spPr>
          <a:xfrm>
            <a:off x="3104147" y="1668379"/>
            <a:ext cx="755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https://www.instagram.com/reel/DOxhQ5ZiMik/</a:t>
            </a:r>
          </a:p>
        </p:txBody>
      </p:sp>
    </p:spTree>
    <p:extLst>
      <p:ext uri="{BB962C8B-B14F-4D97-AF65-F5344CB8AC3E}">
        <p14:creationId xmlns:p14="http://schemas.microsoft.com/office/powerpoint/2010/main" val="306354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genes that change between conditions.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Differential Expression?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005840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analysis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one question:\n\n</a:t>
            </a:r>
            <a:r>
              <a:rPr lang="en-US" sz="2000" b="1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genes are expressed at different levels between two groups of samples?"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comparisons: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vs Healthy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genes go wrong in cancer? In diabetes? In Alzheimer's?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0233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4023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vs Untreated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genes does this drug actually change?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40233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10972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type A vs 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brain cell different from a muscle cell?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Control airway cells vs Dexamethasone-treated airway cells — what genes change?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 Question, Visualized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measuring one gene across many samples in two conditions: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that is NOT differentially expressed: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875595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03120" y="284006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3023371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3069781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2987518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0" y="3028360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3036211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52560" y="3071362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</a:rPr>
              <a:t>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that IS differentially expressed (UP in disease):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5317219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03120" y="528905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34640" y="526718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66160" y="531119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4408907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9520" y="4427857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4640094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52560" y="4451635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Control (low)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</a:rPr>
              <a:t>Dex (high)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analysis tells us: 'this gene is significantly UP in Dex'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Statistics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looking at means isn't enough. We need statistics to know if a difference is REAL or random noise.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variation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from different people naturally differ. We need to separate REAL differences from this noise.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samples vs many genes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20,000+ genes but typically have only 10-50 samples. We need stats to handle this.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 problem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test 20,000 genes, you'll get hundreds 'significant' by pure chance. We need to correct for that.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+ significance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change can be significant in lots of samples; a big change can be insignificant in few. We need both.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Per Gene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analysis gives you two numbers for every gene. Together they tell the whole story.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406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Fold Change (log2FC)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it change?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of the ratio between groups.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log2FC = +1 → gene is 2× higher in Dex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log2FC = +2 → gene is 4× higher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log2FC = -1 → gene is 2× lower in Dex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log2FC = 0 → no 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19456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544068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p-value (padj)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CONFIDENT it changed?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difference is by chance, corrected for testing many genes.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padj &lt; 0.05 → significant ✓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padj &lt; 0.01 → strongly significant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padj &gt; 0.05 → not significant ✗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6526C-A601-E947-816C-D64CBB6A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61" y="615236"/>
            <a:ext cx="10429078" cy="508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3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"Adjusted" P-value?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test 20,000 genes at p &lt; 0.05, you'd expect about 1,000 false positives just by chance.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20,000 genes  ×  5% chance of false positive  =  1,000 false hits!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we ADJUST p-values for multiple testing.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FDR (False Discovery Rate)</a:t>
            </a:r>
            <a:r>
              <a:rPr lang="en-US" sz="1400" dirty="0">
                <a:solidFill>
                  <a:srgbClr val="1E293B"/>
                </a:solidFill>
              </a:rPr>
              <a:t> = the fraction of your 'significant' results expected to be wrong. </a:t>
            </a:r>
            <a:r>
              <a:rPr lang="en-US" sz="1400" b="1" i="1" dirty="0">
                <a:solidFill>
                  <a:srgbClr val="05445E"/>
                </a:solidFill>
              </a:rPr>
              <a:t>Standard cutoff: padj &lt; 0.05 means at most 5% of your hits are false.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version of the most-used DE tool in biology.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— The Gold Standard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005840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most-cited differential expression tool ever published. It came out in R, but </a:t>
            </a: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the same algorithm to Python.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of the original DESeq2 paper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474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2628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nearly every RNA-seq study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474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 — works in Colab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PyDESeq2 Does (Simply)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Same as the R version.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463040" y="2103120"/>
            <a:ext cx="10149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counts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2606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differences in sequencing depth between samples.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463040" y="3291840"/>
            <a:ext cx="10149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3429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variation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3794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how much each gene normally varies — borrow strength across genes.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463040" y="4480560"/>
            <a:ext cx="10149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91640" y="46177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gene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91640" y="49834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gene: is the difference between groups bigger than the noise?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 4 lines of code. PyDESeq2 does all the math for you.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— A Results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 gives you a table with one row per gene. Here's what it looks like: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       baseMean   log2FoldChange   pvalue       padj      Verdict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FKBP5      9420.5         +3.85       3.2e-15    1.1e-12   UP   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0837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DUSP1      2542.1         +2.91       4.7e-10    8.3e-08   UP   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KLF15       182.3          +3.12       1.5e-08    2.3e-06   UP   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7764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PER1        854.6          +2.43       4.7e-07    8.2e-05   UP   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ACTB       18234.0         +0.05       0.92       0.99       — (housekeeping)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FKBP5, DUSP1, KLF15, PER1 go UP in dex (classic glucocorticoid response). ACTB stays flat (housekeeping).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has the two key numbers — log2FoldChange and padj — plus context columns.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6035-C7DF-2717-86B5-ECD0F8BFB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964" y="846484"/>
            <a:ext cx="9712036" cy="238760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accent2">
                    <a:lumMod val="49000"/>
                  </a:schemeClr>
                </a:solidFill>
                <a:latin typeface="ADLaM Display"/>
                <a:ea typeface="+mj-lt"/>
                <a:cs typeface="+mj-lt"/>
              </a:rPr>
              <a:t>Towards Biological Meaning:</a:t>
            </a:r>
            <a:r>
              <a:rPr lang="en-US" sz="4800" b="1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 </a:t>
            </a:r>
            <a:br>
              <a:rPr lang="en-US" sz="4800" b="1">
                <a:latin typeface="ADLaM Display"/>
              </a:rPr>
            </a:br>
            <a:r>
              <a:rPr lang="en-US" sz="4800" b="1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Visualization &amp;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9932B-3776-83F2-0A85-7C6D67EB9E6B}"/>
              </a:ext>
            </a:extLst>
          </p:cNvPr>
          <p:cNvSpPr txBox="1"/>
          <p:nvPr/>
        </p:nvSpPr>
        <p:spPr>
          <a:xfrm>
            <a:off x="1234440" y="4894580"/>
            <a:ext cx="9144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tx2">
                    <a:lumMod val="49000"/>
                    <a:lumOff val="51000"/>
                  </a:schemeClr>
                </a:solidFill>
              </a:rPr>
              <a:t>Good analysis without good visualization is invisible science.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6D2BC2-F500-3A4E-6B73-F2A1EC522E33}"/>
              </a:ext>
            </a:extLst>
          </p:cNvPr>
          <p:cNvSpPr txBox="1">
            <a:spLocks/>
          </p:cNvSpPr>
          <p:nvPr/>
        </p:nvSpPr>
        <p:spPr>
          <a:xfrm>
            <a:off x="611332" y="3228254"/>
            <a:ext cx="10209068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62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iconic chart in RNA-seq analysis.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7263770-70E5-F575-2677-2F5D538C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44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Volcano Plot?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volcano plot puts every gene on one chart. You see all your DE results in one glance.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033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9418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2286000"/>
            <a:ext cx="0" cy="2743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0" cy="2743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64059" y="3677110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18865" y="3768990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09888" y="4517670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09552" y="4874120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4296" y="4114158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87487" y="4351697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40847" y="466381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23309" y="4898809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699310" y="4283367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74301" y="4441918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44716" y="3953385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21339" y="4419617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37939" y="4722567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34681" y="435128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68526" y="477592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840" y="3784616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3831" y="455242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44090" y="5028601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06131" y="504696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57795" y="4786029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83494" y="4087755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27386" y="4828247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68515" y="3721290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23854" y="4494851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34702" y="3988202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785795" y="3844532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66486" y="4152346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58473" y="4758696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31557" y="4072261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11377" y="4739134"/>
            <a:ext cx="109728" cy="109728"/>
          </a:xfrm>
          <a:prstGeom prst="ellipse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2885" y="2352275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76332" y="2477622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916007" y="2687682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696343" y="2441337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521505" y="2470686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439000" y="2470252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969313" y="2539231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82639" y="2569101"/>
            <a:ext cx="164592" cy="16459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609509" y="2322494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153453" y="236974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873413" y="2742776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852339" y="2521295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895451" y="2355486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601434" y="238047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9728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82CE"/>
                </a:solidFill>
              </a:rPr>
              <a:t>← DOWN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0120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3E3E"/>
                </a:solidFill>
              </a:rPr>
              <a:t>UP 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log2 Fold Change →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 rot="-5400000">
            <a:off x="36576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← -log10(padj)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5445E"/>
                </a:solidFill>
              </a:rPr>
              <a:t>Significant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Not significant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gene. Look in the top-left (DOWN) and top-right (UP) corners — those are your significant DE genes.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E88AC6C-354D-21DD-7261-CCC1D5172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96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B623-F7C7-C403-38BB-5FE8CEAD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7F77-3476-0827-9D04-127F96A17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A9092A9-D486-8C28-72D1-1068E495C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902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FE132EB-BAB5-36AC-9744-60431EA4A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963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7C24C15-6FC4-13B0-81B8-C6D240D99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E2D232-244B-063A-DC0E-02DAB1575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09" y="720004"/>
            <a:ext cx="10410432" cy="541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8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Volcano Plot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0972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corner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that are SIGNIFICANTLY DOWN in your test condition. Highly negative log2FC + low padj.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10972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corner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that are SIGNIFICANTLY UP in your test condition. Highly positive log2FC + low padj.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0972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area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that are NOT significant — high p-values, ignore these.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10972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but small effect — not very interesting biologically.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papers, the most interesting DE genes are usually labeled by name on the volcano plot.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Volcano Plot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411262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DE visualization: statistical significance vs. magnitude of change for every gene.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9600" y="2194560"/>
            <a:ext cx="3233057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Text 4"/>
          <p:cNvSpPr/>
          <p:nvPr/>
        </p:nvSpPr>
        <p:spPr>
          <a:xfrm>
            <a:off x="914400" y="231648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Axes &amp; Interpretation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914400" y="2621280"/>
            <a:ext cx="5486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log2 Fold Change</a:t>
            </a:r>
            <a:endParaRPr lang="en-US" sz="1533"/>
          </a:p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 = up in treatment</a:t>
            </a:r>
            <a:endParaRPr lang="en-US" sz="1533"/>
          </a:p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= down in treatment</a:t>
            </a:r>
            <a:endParaRPr lang="en-US" sz="1533"/>
          </a:p>
          <a:p>
            <a:endParaRPr lang="en-US" sz="1533"/>
          </a:p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–log10(adjusted p-value)</a:t>
            </a:r>
            <a:endParaRPr lang="en-US" sz="1533"/>
          </a:p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= more significant</a:t>
            </a:r>
            <a:endParaRPr lang="en-US" sz="1533"/>
          </a:p>
          <a:p>
            <a:r>
              <a:rPr lang="en-US" sz="15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Cutoff at –log10(0.05) ≈ 1.3</a:t>
            </a:r>
            <a:endParaRPr lang="en-US" sz="1533"/>
          </a:p>
          <a:p>
            <a:endParaRPr lang="en-US" sz="1533"/>
          </a:p>
        </p:txBody>
      </p:sp>
      <p:pic>
        <p:nvPicPr>
          <p:cNvPr id="8" name="Content Placeholder 6" descr="A graph of red blue and white dots&#10;&#10;AI-generated content may be incorrect.">
            <a:extLst>
              <a:ext uri="{FF2B5EF4-FFF2-40B4-BE49-F238E27FC236}">
                <a16:creationId xmlns:a16="http://schemas.microsoft.com/office/drawing/2014/main" id="{71D2B8D2-113B-E9D8-A8F0-09D3014B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294" y="2194560"/>
            <a:ext cx="5472611" cy="4111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0101AF-FBAF-E1D4-681C-8124025CB6F8}"/>
              </a:ext>
            </a:extLst>
          </p:cNvPr>
          <p:cNvSpPr txBox="1"/>
          <p:nvPr/>
        </p:nvSpPr>
        <p:spPr>
          <a:xfrm>
            <a:off x="7895772" y="590859"/>
            <a:ext cx="37084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Which genes changed between two conditions? (Biologically)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How confident are we about that change? (Statistically)</a:t>
            </a:r>
            <a:endParaRPr lang="en-US" sz="1600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chemeClr val="tx2">
                    <a:lumMod val="76000"/>
                    <a:lumOff val="24000"/>
                  </a:schemeClr>
                </a:solidFill>
              </a:rPr>
              <a:t>------- Threshold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00BE8-6EBF-85E4-A7A7-4E84C24B2D49}"/>
              </a:ext>
            </a:extLst>
          </p:cNvPr>
          <p:cNvSpPr txBox="1"/>
          <p:nvPr/>
        </p:nvSpPr>
        <p:spPr>
          <a:xfrm>
            <a:off x="6017199" y="6272408"/>
            <a:ext cx="65430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Log fold change: </a:t>
            </a:r>
            <a:r>
              <a:rPr lang="en-US" sz="1600" b="1">
                <a:solidFill>
                  <a:srgbClr val="FF0000"/>
                </a:solidFill>
              </a:rPr>
              <a:t>how</a:t>
            </a:r>
            <a:r>
              <a:rPr lang="en-US" sz="1600" b="1">
                <a:solidFill>
                  <a:srgbClr val="FF0000"/>
                </a:solidFill>
                <a:ea typeface="+mn-lt"/>
                <a:cs typeface="+mn-lt"/>
              </a:rPr>
              <a:t> much a gene changed</a:t>
            </a:r>
            <a:r>
              <a:rPr lang="en-US" sz="1600">
                <a:solidFill>
                  <a:srgbClr val="FF0000"/>
                </a:solidFill>
                <a:ea typeface="+mn-lt"/>
                <a:cs typeface="+mn-lt"/>
              </a:rPr>
              <a:t>.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B10E3-C673-A97F-0025-D04D25F24D5B}"/>
              </a:ext>
            </a:extLst>
          </p:cNvPr>
          <p:cNvSpPr txBox="1"/>
          <p:nvPr/>
        </p:nvSpPr>
        <p:spPr>
          <a:xfrm rot="-5400000">
            <a:off x="3254163" y="4053476"/>
            <a:ext cx="4586300" cy="3479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ea typeface="+mn-lt"/>
                <a:cs typeface="+mn-lt"/>
              </a:rPr>
              <a:t>How confident we are</a:t>
            </a:r>
            <a:r>
              <a:rPr lang="en-US" sz="1600">
                <a:solidFill>
                  <a:srgbClr val="FF0000"/>
                </a:solidFill>
                <a:ea typeface="+mn-lt"/>
                <a:cs typeface="+mn-lt"/>
              </a:rPr>
              <a:t> in the change.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Sample-Level QC: PCA &amp; Clustering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data quality before DE. Identify outliers, batch effects, sample swaps.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9600" y="2194560"/>
            <a:ext cx="5242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Shape 4"/>
          <p:cNvSpPr/>
          <p:nvPr/>
        </p:nvSpPr>
        <p:spPr>
          <a:xfrm>
            <a:off x="609600" y="2194560"/>
            <a:ext cx="73152" cy="4023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7" name="Text 5"/>
          <p:cNvSpPr/>
          <p:nvPr/>
        </p:nvSpPr>
        <p:spPr>
          <a:xfrm>
            <a:off x="914400" y="231648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Plot</a:t>
            </a:r>
            <a:endParaRPr lang="en-US" sz="2133"/>
          </a:p>
        </p:txBody>
      </p:sp>
      <p:sp>
        <p:nvSpPr>
          <p:cNvPr id="8" name="Text 6"/>
          <p:cNvSpPr/>
          <p:nvPr/>
        </p:nvSpPr>
        <p:spPr>
          <a:xfrm>
            <a:off x="914400" y="2804160"/>
            <a:ext cx="46329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gene dimensions to 2D.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Separation by condition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Tight replicate clustering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Outliers far from group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Batch effects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plotPCA() on vst/rlog data.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captures most variance.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31520" y="63398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transform data first</a:t>
            </a:r>
            <a:endParaRPr lang="en-US" sz="16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613251-CDBA-9B54-0B4E-4240BBDD8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33" y="2194560"/>
            <a:ext cx="5180287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F23D-BB43-0E88-85C4-6D8A28F6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914D04-D76D-0D2C-1CB3-C44F1365752E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956CAA-EFF8-DD91-7C84-5A9D3D155C6B}"/>
              </a:ext>
            </a:extLst>
          </p:cNvPr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Sample-Level QC: PCA &amp; Clustering</a:t>
            </a:r>
            <a:endParaRPr lang="en-US" sz="3467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04F7F7-B813-45FE-2580-A7FD403340DC}"/>
              </a:ext>
            </a:extLst>
          </p:cNvPr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data quality before DE. Identify outliers, batch effects, sample swaps.</a:t>
            </a:r>
            <a:endParaRPr lang="en-US" sz="2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27B9EA-450C-119A-102F-6523F8D83F97}"/>
              </a:ext>
            </a:extLst>
          </p:cNvPr>
          <p:cNvSpPr/>
          <p:nvPr/>
        </p:nvSpPr>
        <p:spPr>
          <a:xfrm>
            <a:off x="731520" y="1950720"/>
            <a:ext cx="5242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C5F409-4511-BD99-E97D-44402140D10F}"/>
              </a:ext>
            </a:extLst>
          </p:cNvPr>
          <p:cNvSpPr/>
          <p:nvPr/>
        </p:nvSpPr>
        <p:spPr>
          <a:xfrm>
            <a:off x="731520" y="1950720"/>
            <a:ext cx="73152" cy="40233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516C23-BA39-6EEA-B26E-ABFB26682B01}"/>
              </a:ext>
            </a:extLst>
          </p:cNvPr>
          <p:cNvSpPr/>
          <p:nvPr/>
        </p:nvSpPr>
        <p:spPr>
          <a:xfrm>
            <a:off x="1036320" y="207264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Clustering</a:t>
            </a:r>
            <a:endParaRPr lang="en-US" sz="2133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804130-CAF7-166E-FABE-0EC75F67A835}"/>
              </a:ext>
            </a:extLst>
          </p:cNvPr>
          <p:cNvSpPr/>
          <p:nvPr/>
        </p:nvSpPr>
        <p:spPr>
          <a:xfrm>
            <a:off x="1036320" y="2560320"/>
            <a:ext cx="46329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Sample-to-sample distance heatmap.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Samples cluster by condition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Dark diagonal = similar replicates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Unexpected patterns = problems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Euclidean distance on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variance-stabilized data.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pheatmap or ComplexHeatmap.</a:t>
            </a:r>
            <a:endParaRPr lang="en-US"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F5D1F6-FBC9-C221-7119-B60B8871AD36}"/>
              </a:ext>
            </a:extLst>
          </p:cNvPr>
          <p:cNvSpPr/>
          <p:nvPr/>
        </p:nvSpPr>
        <p:spPr>
          <a:xfrm>
            <a:off x="731520" y="63398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transform data first</a:t>
            </a:r>
            <a:endParaRPr lang="en-US" sz="16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D14706-8C23-B6D2-9CA1-5ADFEB449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97725"/>
            <a:ext cx="5529943" cy="1662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263645-0EAB-368F-57F1-746C86A32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88" b="-1"/>
          <a:stretch>
            <a:fillRect/>
          </a:stretch>
        </p:blipFill>
        <p:spPr>
          <a:xfrm>
            <a:off x="6302828" y="4462272"/>
            <a:ext cx="4676043" cy="1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5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Heatmaps for Gene Expression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expression patterns across samples for selected genes, revealing clusters and co-expression patterns.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9600" y="2194560"/>
            <a:ext cx="54864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Shape 4"/>
          <p:cNvSpPr/>
          <p:nvPr/>
        </p:nvSpPr>
        <p:spPr>
          <a:xfrm>
            <a:off x="609600" y="2194560"/>
            <a:ext cx="73152" cy="4023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7" name="Text 5"/>
          <p:cNvSpPr/>
          <p:nvPr/>
        </p:nvSpPr>
        <p:spPr>
          <a:xfrm>
            <a:off x="914400" y="231648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914400" y="2804160"/>
            <a:ext cx="463296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transformed values, NOT raw counts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Z-score by row (gene) to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relative patterns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selection: Top 20–50 DE genes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padj, or genes of interest.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Column annotations for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batch, etc.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Hierarchical clustering of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+ columns reveals modules</a:t>
            </a:r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E4895F-371F-460D-9515-5F0DD8595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803" y="1887311"/>
            <a:ext cx="6411686" cy="44549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8A64-20C4-6E99-92AD-D2152C0E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</a:br>
            <a: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                                                  Heatmaps and 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D82A-5F60-4A77-1B12-26F727F51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619" y="1825625"/>
            <a:ext cx="401402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Heatmap of top genes with clear clustering by condition</a:t>
            </a:r>
          </a:p>
          <a:p>
            <a:pPr marL="514350" indent="-514350">
              <a:buAutoNum type="arabicPeriod"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Which genes behave similarly across samples</a:t>
            </a:r>
            <a:endParaRPr lang="en-US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Do top DE genes show a clear pattern?</a:t>
            </a:r>
          </a:p>
        </p:txBody>
      </p:sp>
      <p:pic>
        <p:nvPicPr>
          <p:cNvPr id="4" name="Picture 3" descr="DESeq2 Course Work">
            <a:extLst>
              <a:ext uri="{FF2B5EF4-FFF2-40B4-BE49-F238E27FC236}">
                <a16:creationId xmlns:a16="http://schemas.microsoft.com/office/drawing/2014/main" id="{56584984-240E-5B62-23DF-E956812D4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84" y="1610032"/>
            <a:ext cx="64008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D0426D-8D87-5BC9-6815-EB68F944FC25}"/>
              </a:ext>
            </a:extLst>
          </p:cNvPr>
          <p:cNvSpPr txBox="1"/>
          <p:nvPr/>
        </p:nvSpPr>
        <p:spPr>
          <a:xfrm>
            <a:off x="1064367" y="62988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97F78-442A-7ECB-F980-D757A01F6C3D}"/>
              </a:ext>
            </a:extLst>
          </p:cNvPr>
          <p:cNvSpPr txBox="1"/>
          <p:nvPr/>
        </p:nvSpPr>
        <p:spPr>
          <a:xfrm>
            <a:off x="1539240" y="618998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Samples (columns)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1365A-8CAB-1857-1C14-E42776557993}"/>
              </a:ext>
            </a:extLst>
          </p:cNvPr>
          <p:cNvSpPr txBox="1"/>
          <p:nvPr/>
        </p:nvSpPr>
        <p:spPr>
          <a:xfrm rot="5400000">
            <a:off x="4627880" y="393445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Genes (rows)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A9B12-FDBE-6A32-816A-4EAB022B23D4}"/>
              </a:ext>
            </a:extLst>
          </p:cNvPr>
          <p:cNvSpPr txBox="1"/>
          <p:nvPr/>
        </p:nvSpPr>
        <p:spPr>
          <a:xfrm>
            <a:off x="4617720" y="19456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Condition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777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B39F-27FE-95F0-68DC-F96392E3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4E76-FFAF-471D-3697-D7EF0422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</a:br>
            <a: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                                                      Heatmaps and 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7981-2D77-1A8D-01EB-D04B9F6B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7160" y="1825625"/>
            <a:ext cx="4104640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Do samples cluster by condition?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heatmap where the top annotation bars clearly label Condition and Replicate.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 how to read the annotation bars and how clustering supports the experimental design.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02CE9-1102-B5AF-F142-2E4B7886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55" y="1306284"/>
            <a:ext cx="4491601" cy="53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7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E3DE-D4F1-B042-40C6-BE0127C4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C05D-6100-878D-8FD0-E2EEE551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</a:br>
            <a:r>
              <a:rPr lang="en-US" sz="4000" dirty="0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                                                   Heatmaps and 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67CF-8B31-99ED-1016-CA0F238D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7160" y="1825625"/>
            <a:ext cx="410464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Sample-to-sample correlation heatmap 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Correlation matrix heatmap showing samples clustering nicely by group.</a:t>
            </a:r>
          </a:p>
          <a:p>
            <a:pPr>
              <a:buFont typeface="Arial"/>
              <a:buChar char="•"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Usually uses for  “QC check: do replicates look similar?”</a:t>
            </a:r>
            <a:endParaRPr lang="en-US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8C077-E0A3-2A89-3783-B85F868B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1473653"/>
            <a:ext cx="6411686" cy="445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41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A599-093B-5273-7734-AE7E8557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40" y="20967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>
                <a:solidFill>
                  <a:schemeClr val="accent2">
                    <a:lumMod val="49000"/>
                  </a:schemeClr>
                </a:solidFill>
                <a:latin typeface="ADLaM Display"/>
                <a:ea typeface="Aptos"/>
                <a:cs typeface="Aptos"/>
              </a:rPr>
              <a:t> Pathway &amp; Enrichment Analysis</a:t>
            </a:r>
            <a:endParaRPr lang="en-US" sz="4800">
              <a:solidFill>
                <a:schemeClr val="accent2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323992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Gene Lists to Biological Meaning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gives a gene list. Enrichment analysis connects it to known biology: pathways, processes, functions.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9600" y="2194560"/>
            <a:ext cx="512064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Shape 4"/>
          <p:cNvSpPr/>
          <p:nvPr/>
        </p:nvSpPr>
        <p:spPr>
          <a:xfrm>
            <a:off x="609600" y="2194560"/>
            <a:ext cx="73152" cy="243840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7" name="Text 5"/>
          <p:cNvSpPr/>
          <p:nvPr/>
        </p:nvSpPr>
        <p:spPr>
          <a:xfrm>
            <a:off x="914400" y="231648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914400" y="2865120"/>
            <a:ext cx="451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DE genes. Looking at individuals is overwhelming. A pathway effect may be distributed across many genes with small changes.</a:t>
            </a:r>
            <a:endParaRPr lang="en-US" sz="1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926080"/>
            <a:ext cx="487680" cy="48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61760" y="2194560"/>
            <a:ext cx="512064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1" name="Shape 8"/>
          <p:cNvSpPr/>
          <p:nvPr/>
        </p:nvSpPr>
        <p:spPr>
          <a:xfrm>
            <a:off x="6461760" y="2194560"/>
            <a:ext cx="73152" cy="24384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2" name="Text 9"/>
          <p:cNvSpPr/>
          <p:nvPr/>
        </p:nvSpPr>
        <p:spPr>
          <a:xfrm>
            <a:off x="6766560" y="231648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6766560" y="2865120"/>
            <a:ext cx="451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asks: "Are genes from a biological pathway over-represented in my results more than by chance?" Provides higher-level interpretation.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4511040" y="5547360"/>
            <a:ext cx="35356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2nd: FCS / GSEA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(Functional Class Soring)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5547360"/>
            <a:ext cx="35356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3rd: Topology-Based</a:t>
            </a:r>
            <a:endParaRPr lang="en-US" sz="1600"/>
          </a:p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context)</a:t>
            </a:r>
            <a:endParaRPr lang="en-US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Bases for Enrichment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relies on curated databases defining gene sets.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10972800" cy="7559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Shape 4"/>
          <p:cNvSpPr/>
          <p:nvPr/>
        </p:nvSpPr>
        <p:spPr>
          <a:xfrm>
            <a:off x="609600" y="2072640"/>
            <a:ext cx="73152" cy="7559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7" name="Text 5"/>
          <p:cNvSpPr/>
          <p:nvPr/>
        </p:nvSpPr>
        <p:spPr>
          <a:xfrm>
            <a:off x="914400" y="2133600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Ontology (GO)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4389120" y="2133600"/>
            <a:ext cx="694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MF, CC ontologies. Hierarchical DAG. ~45,000 terms.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609600" y="2950464"/>
            <a:ext cx="10972800" cy="7559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0" name="Shape 8"/>
          <p:cNvSpPr/>
          <p:nvPr/>
        </p:nvSpPr>
        <p:spPr>
          <a:xfrm>
            <a:off x="609600" y="2950464"/>
            <a:ext cx="73152" cy="75590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1" name="Text 9"/>
          <p:cNvSpPr/>
          <p:nvPr/>
        </p:nvSpPr>
        <p:spPr>
          <a:xfrm>
            <a:off x="914400" y="301142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KEGG Pathways</a:t>
            </a:r>
            <a:endParaRPr lang="en-US" sz="1733"/>
          </a:p>
        </p:txBody>
      </p:sp>
      <p:sp>
        <p:nvSpPr>
          <p:cNvPr id="12" name="Text 10"/>
          <p:cNvSpPr/>
          <p:nvPr/>
        </p:nvSpPr>
        <p:spPr>
          <a:xfrm>
            <a:off x="4389120" y="3011424"/>
            <a:ext cx="694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metabolic/signaling/disease pathways. ~350 human pathways.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609600" y="3828288"/>
            <a:ext cx="10972800" cy="7559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4" name="Shape 12"/>
          <p:cNvSpPr/>
          <p:nvPr/>
        </p:nvSpPr>
        <p:spPr>
          <a:xfrm>
            <a:off x="609600" y="3828288"/>
            <a:ext cx="73152" cy="755904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5" name="Text 13"/>
          <p:cNvSpPr/>
          <p:nvPr/>
        </p:nvSpPr>
        <p:spPr>
          <a:xfrm>
            <a:off x="914400" y="3889248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F77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Reactome</a:t>
            </a:r>
            <a:endParaRPr lang="en-US" sz="1733"/>
          </a:p>
        </p:txBody>
      </p:sp>
      <p:sp>
        <p:nvSpPr>
          <p:cNvPr id="16" name="Text 14"/>
          <p:cNvSpPr/>
          <p:nvPr/>
        </p:nvSpPr>
        <p:spPr>
          <a:xfrm>
            <a:off x="4389120" y="3889248"/>
            <a:ext cx="694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peer-reviewed. Hierarchical. ~2,600 human pathways.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609600" y="4706112"/>
            <a:ext cx="10972800" cy="7559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8" name="Shape 16"/>
          <p:cNvSpPr/>
          <p:nvPr/>
        </p:nvSpPr>
        <p:spPr>
          <a:xfrm>
            <a:off x="609600" y="4706112"/>
            <a:ext cx="73152" cy="75590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9" name="Text 17"/>
          <p:cNvSpPr/>
          <p:nvPr/>
        </p:nvSpPr>
        <p:spPr>
          <a:xfrm>
            <a:off x="914400" y="4767072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MSigDB (Broad)</a:t>
            </a:r>
            <a:endParaRPr lang="en-US" sz="1733"/>
          </a:p>
        </p:txBody>
      </p:sp>
      <p:sp>
        <p:nvSpPr>
          <p:cNvPr id="20" name="Text 18"/>
          <p:cNvSpPr/>
          <p:nvPr/>
        </p:nvSpPr>
        <p:spPr>
          <a:xfrm>
            <a:off x="4389120" y="4767072"/>
            <a:ext cx="694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collections: Hallmark (50 sets), curated, motif, GO, oncogenic, immunologic, cell type.</a:t>
            </a:r>
            <a:endParaRPr lang="en-US" sz="1467"/>
          </a:p>
        </p:txBody>
      </p:sp>
      <p:sp>
        <p:nvSpPr>
          <p:cNvPr id="21" name="Shape 19"/>
          <p:cNvSpPr/>
          <p:nvPr/>
        </p:nvSpPr>
        <p:spPr>
          <a:xfrm>
            <a:off x="609600" y="5583936"/>
            <a:ext cx="10972800" cy="7559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22" name="Shape 20"/>
          <p:cNvSpPr/>
          <p:nvPr/>
        </p:nvSpPr>
        <p:spPr>
          <a:xfrm>
            <a:off x="609600" y="5583936"/>
            <a:ext cx="73152" cy="75590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23" name="Text 21"/>
          <p:cNvSpPr/>
          <p:nvPr/>
        </p:nvSpPr>
        <p:spPr>
          <a:xfrm>
            <a:off x="914400" y="5644896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WikiPathways</a:t>
            </a:r>
            <a:endParaRPr lang="en-US" sz="1733"/>
          </a:p>
        </p:txBody>
      </p:sp>
      <p:sp>
        <p:nvSpPr>
          <p:cNvPr id="24" name="Text 22"/>
          <p:cNvSpPr/>
          <p:nvPr/>
        </p:nvSpPr>
        <p:spPr>
          <a:xfrm>
            <a:off x="4389120" y="5644896"/>
            <a:ext cx="694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Community-curated open pathway database with visual diagrams.</a:t>
            </a:r>
            <a:endParaRPr lang="en-US" sz="1467"/>
          </a:p>
        </p:txBody>
      </p:sp>
      <p:sp>
        <p:nvSpPr>
          <p:cNvPr id="25" name="Text 23"/>
          <p:cNvSpPr/>
          <p:nvPr/>
        </p:nvSpPr>
        <p:spPr>
          <a:xfrm>
            <a:off x="731520" y="63398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databases for comprehensive analysis.</a:t>
            </a:r>
            <a:endParaRPr lang="en-US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Ontology: Structure &amp; Three Domains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is a DAG: child terms are more specific. A gene annotated to a child inherits all parent annotations.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87680" y="2255520"/>
            <a:ext cx="365760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73152" cy="304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 Process (BP)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16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gene does biologically.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apoptosis, immune response,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cycle, DNA repair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328160" y="2255520"/>
            <a:ext cx="365760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0" name="Shape 8"/>
          <p:cNvSpPr/>
          <p:nvPr/>
        </p:nvSpPr>
        <p:spPr>
          <a:xfrm>
            <a:off x="4328160" y="2255520"/>
            <a:ext cx="73152" cy="304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Molecular Function (MF)</a:t>
            </a:r>
            <a:endParaRPr lang="en-US" sz="1867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16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Biochemical activity.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kinase activity, DNA binding,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activity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8168640" y="2255520"/>
            <a:ext cx="365760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SA" sz="2400"/>
          </a:p>
        </p:txBody>
      </p:sp>
      <p:sp>
        <p:nvSpPr>
          <p:cNvPr id="14" name="Shape 12"/>
          <p:cNvSpPr/>
          <p:nvPr/>
        </p:nvSpPr>
        <p:spPr>
          <a:xfrm>
            <a:off x="8168640" y="2255520"/>
            <a:ext cx="73152" cy="30480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77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Cellular Component (CC)</a:t>
            </a:r>
            <a:endParaRPr lang="en-US" sz="1867"/>
          </a:p>
        </p:txBody>
      </p:sp>
      <p:sp>
        <p:nvSpPr>
          <p:cNvPr id="16" name="Text 14"/>
          <p:cNvSpPr/>
          <p:nvPr/>
        </p:nvSpPr>
        <p:spPr>
          <a:xfrm>
            <a:off x="8412480" y="2926080"/>
            <a:ext cx="316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cell.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nucleus, mitochondrion,</a:t>
            </a:r>
            <a:endParaRPr lang="en-US" sz="1600"/>
          </a:p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membrane</a:t>
            </a:r>
            <a:endParaRPr 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6196-E07C-707B-1482-9BD5BAB9B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236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49000"/>
                  </a:schemeClr>
                </a:solidFill>
                <a:latin typeface="ADLaM Display"/>
                <a:ea typeface="+mj-lt"/>
                <a:cs typeface="+mj-lt"/>
              </a:rPr>
              <a:t>Gene Ontology (GO)</a:t>
            </a:r>
            <a:endParaRPr lang="en-US">
              <a:solidFill>
                <a:schemeClr val="accent2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BCD3B-96E4-BFC8-500A-ADB4AEB3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03" y="1717220"/>
            <a:ext cx="7029451" cy="51435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12AA5B-11BD-5EF2-9F8D-F8391254A96F}"/>
              </a:ext>
            </a:extLst>
          </p:cNvPr>
          <p:cNvSpPr txBox="1"/>
          <p:nvPr/>
        </p:nvSpPr>
        <p:spPr>
          <a:xfrm>
            <a:off x="8620215" y="1828618"/>
            <a:ext cx="357632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ea typeface="+mn-lt"/>
                <a:cs typeface="+mn-lt"/>
              </a:rPr>
              <a:t>What does this gene do?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Biological Process</a:t>
            </a:r>
            <a:r>
              <a:rPr lang="en-US">
                <a:ea typeface="+mn-lt"/>
                <a:cs typeface="+mn-lt"/>
              </a:rPr>
              <a:t> → what is happening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(e.g. cell division, neuron signaling)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Molecular Function</a:t>
            </a:r>
            <a:r>
              <a:rPr lang="en-US">
                <a:ea typeface="+mn-lt"/>
                <a:cs typeface="+mn-lt"/>
              </a:rPr>
              <a:t> → what the gene does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(e.g. enzyme, receptor)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Cellular Component</a:t>
            </a:r>
            <a:r>
              <a:rPr lang="en-US">
                <a:ea typeface="+mn-lt"/>
                <a:cs typeface="+mn-lt"/>
              </a:rPr>
              <a:t> → where it works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(e.g. nucleus, synapse)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i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Think of GO as </a:t>
            </a:r>
            <a:r>
              <a:rPr lang="en-US" b="1">
                <a:ea typeface="+mn-lt"/>
                <a:cs typeface="+mn-lt"/>
              </a:rPr>
              <a:t>labels describing gene functions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A4EC-1AC2-7B67-48B8-43068119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chemeClr val="accent2">
                    <a:lumMod val="49000"/>
                  </a:schemeClr>
                </a:solidFill>
                <a:latin typeface="ADLaM Display"/>
                <a:ea typeface="+mj-lt"/>
                <a:cs typeface="+mj-lt"/>
              </a:rPr>
              <a:t>Example of Dot Plot for Enrichment</a:t>
            </a:r>
            <a:endParaRPr lang="en-US">
              <a:solidFill>
                <a:schemeClr val="accent2">
                  <a:lumMod val="49000"/>
                </a:schemeClr>
              </a:solidFill>
              <a:latin typeface="ADLaM Display"/>
              <a:ea typeface="ADLaM Display"/>
              <a:cs typeface="ADLaM Display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C4B7D1-28F3-3DE4-609D-92EC8A89D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70" y="1680460"/>
            <a:ext cx="5935420" cy="4876800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2AC1081-D38E-74F9-A26A-5CE5CB58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02" y="1682525"/>
            <a:ext cx="5468711" cy="455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70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447D-4DB7-6FA4-6324-639022D8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320" y="13144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49000"/>
                  </a:schemeClr>
                </a:solidFill>
                <a:latin typeface="ADLaM Display"/>
                <a:ea typeface="ADLaM Display"/>
                <a:cs typeface="ADLaM Display"/>
              </a:rPr>
              <a:t>KEGG</a:t>
            </a:r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B96463AB-C75F-37CD-5DA5-BA21AB74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08" y="1349829"/>
            <a:ext cx="6069214" cy="52033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BCF32-53E0-B781-7242-0E8EAFBBF1F4}"/>
              </a:ext>
            </a:extLst>
          </p:cNvPr>
          <p:cNvSpPr txBox="1"/>
          <p:nvPr/>
        </p:nvSpPr>
        <p:spPr>
          <a:xfrm>
            <a:off x="7326086" y="2198914"/>
            <a:ext cx="430784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How do genes work together?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Shows </a:t>
            </a:r>
            <a:r>
              <a:rPr lang="en-US" b="1"/>
              <a:t>pathways</a:t>
            </a:r>
            <a:r>
              <a:rPr lang="en-US"/>
              <a:t> (step-by-step biological processes)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Genes are connected by </a:t>
            </a:r>
            <a:r>
              <a:rPr lang="en-US" b="1"/>
              <a:t>arrows and interactions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Examples: signaling pathways, metabolism pathways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  <a:p>
            <a:r>
              <a:rPr lang="en-US"/>
              <a:t> Think of KEGG as a </a:t>
            </a:r>
            <a:r>
              <a:rPr lang="en-US" b="1"/>
              <a:t>map of biological pathways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3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Set Enrichment Analysis (GSEA)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34112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ENTIRE ranked gene list (no threshold). Tests whether pathway genes cluster at the top or bottom.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731520" y="225552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6" name="Text 4"/>
          <p:cNvSpPr/>
          <p:nvPr/>
        </p:nvSpPr>
        <p:spPr>
          <a:xfrm>
            <a:off x="731520" y="2255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524000" y="219456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all genes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4632960" y="2194560"/>
            <a:ext cx="7071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metric (Wald stat, shrunken log2FC, signed –log10(p)×sign(log2FC), or t-statistic).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731520" y="335280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0" name="Text 8"/>
          <p:cNvSpPr/>
          <p:nvPr/>
        </p:nvSpPr>
        <p:spPr>
          <a:xfrm>
            <a:off x="731520" y="3352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524000" y="32918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down ranked list</a:t>
            </a:r>
            <a:endParaRPr lang="en-US" sz="1733"/>
          </a:p>
        </p:txBody>
      </p:sp>
      <p:sp>
        <p:nvSpPr>
          <p:cNvPr id="12" name="Text 10"/>
          <p:cNvSpPr/>
          <p:nvPr/>
        </p:nvSpPr>
        <p:spPr>
          <a:xfrm>
            <a:off x="4632960" y="3291840"/>
            <a:ext cx="7071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Running-sum: +increment for gene set members (weighted by rank metric), –decrement otherwise.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731520" y="445008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4" name="Text 12"/>
          <p:cNvSpPr/>
          <p:nvPr/>
        </p:nvSpPr>
        <p:spPr>
          <a:xfrm>
            <a:off x="731520" y="445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524000" y="438912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Enrichment Score</a:t>
            </a:r>
            <a:endParaRPr lang="en-US" sz="1733"/>
          </a:p>
        </p:txBody>
      </p:sp>
      <p:sp>
        <p:nvSpPr>
          <p:cNvPr id="16" name="Text 14"/>
          <p:cNvSpPr/>
          <p:nvPr/>
        </p:nvSpPr>
        <p:spPr>
          <a:xfrm>
            <a:off x="4632960" y="4389120"/>
            <a:ext cx="7071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deviation from zero. Positive ES = members at TOP (upregulated). Negative = at BOTTOM (downregulated).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731520" y="554736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8" name="Text 16"/>
          <p:cNvSpPr/>
          <p:nvPr/>
        </p:nvSpPr>
        <p:spPr>
          <a:xfrm>
            <a:off x="731520" y="554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524000" y="548640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testing</a:t>
            </a:r>
            <a:endParaRPr lang="en-US" sz="1733"/>
          </a:p>
        </p:txBody>
      </p:sp>
      <p:sp>
        <p:nvSpPr>
          <p:cNvPr id="20" name="Text 18"/>
          <p:cNvSpPr/>
          <p:nvPr/>
        </p:nvSpPr>
        <p:spPr>
          <a:xfrm>
            <a:off x="4632960" y="5486400"/>
            <a:ext cx="7071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 to null from gene label permutation. NES = ES / mean(null). FDR for multiple testing.</a:t>
            </a:r>
            <a:endParaRPr lang="en-US" sz="1467"/>
          </a:p>
        </p:txBody>
      </p:sp>
      <p:sp>
        <p:nvSpPr>
          <p:cNvPr id="21" name="Text 19"/>
          <p:cNvSpPr/>
          <p:nvPr/>
        </p:nvSpPr>
        <p:spPr>
          <a:xfrm>
            <a:off x="731520" y="63398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Subramanian et al. (2005) PNAS  |  Tools: fgsea, clusterProfiler::GSEA(), GSEA (Broad Institute)</a:t>
            </a:r>
            <a:endParaRPr lang="en-US" sz="1333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Visualizing Enrichment Results</a:t>
            </a:r>
            <a:endParaRPr lang="en-US" sz="3467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5" name="Text 3"/>
          <p:cNvSpPr/>
          <p:nvPr/>
        </p:nvSpPr>
        <p:spPr>
          <a:xfrm>
            <a:off x="1036320" y="140208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Dot Plot</a:t>
            </a:r>
            <a:endParaRPr lang="en-US" sz="1733"/>
          </a:p>
        </p:txBody>
      </p:sp>
      <p:sp>
        <p:nvSpPr>
          <p:cNvPr id="6" name="Text 4"/>
          <p:cNvSpPr/>
          <p:nvPr/>
        </p:nvSpPr>
        <p:spPr>
          <a:xfrm>
            <a:off x="1036320" y="174345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sets vs gene ratio. Size=count, color=padj.</a:t>
            </a:r>
            <a:endParaRPr lang="en-US" sz="1467"/>
          </a:p>
        </p:txBody>
      </p:sp>
      <p:sp>
        <p:nvSpPr>
          <p:cNvPr id="7" name="Text 5"/>
          <p:cNvSpPr/>
          <p:nvPr/>
        </p:nvSpPr>
        <p:spPr>
          <a:xfrm>
            <a:off x="7924800" y="140208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enrichplot::dotplot()</a:t>
            </a:r>
            <a:endParaRPr lang="en-US" sz="1333"/>
          </a:p>
        </p:txBody>
      </p:sp>
      <p:sp>
        <p:nvSpPr>
          <p:cNvPr id="8" name="Shape 6"/>
          <p:cNvSpPr/>
          <p:nvPr/>
        </p:nvSpPr>
        <p:spPr>
          <a:xfrm>
            <a:off x="731520" y="225552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9" name="Text 7"/>
          <p:cNvSpPr/>
          <p:nvPr/>
        </p:nvSpPr>
        <p:spPr>
          <a:xfrm>
            <a:off x="1036320" y="225552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Plot</a:t>
            </a:r>
            <a:endParaRPr lang="en-US" sz="1733"/>
          </a:p>
        </p:txBody>
      </p:sp>
      <p:sp>
        <p:nvSpPr>
          <p:cNvPr id="10" name="Text 8"/>
          <p:cNvSpPr/>
          <p:nvPr/>
        </p:nvSpPr>
        <p:spPr>
          <a:xfrm>
            <a:off x="1036320" y="259689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for enriched terms. Clean for talks.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7924800" y="225552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barplot(ego)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3" name="Text 11"/>
          <p:cNvSpPr/>
          <p:nvPr/>
        </p:nvSpPr>
        <p:spPr>
          <a:xfrm>
            <a:off x="1036320" y="310896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GSEA Plot</a:t>
            </a:r>
            <a:endParaRPr lang="en-US" sz="1733"/>
          </a:p>
        </p:txBody>
      </p:sp>
      <p:sp>
        <p:nvSpPr>
          <p:cNvPr id="14" name="Text 12"/>
          <p:cNvSpPr/>
          <p:nvPr/>
        </p:nvSpPr>
        <p:spPr>
          <a:xfrm>
            <a:off x="1036320" y="345033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 + barcode + rank metric for one set.</a:t>
            </a:r>
            <a:endParaRPr lang="en-US" sz="1467"/>
          </a:p>
        </p:txBody>
      </p:sp>
      <p:sp>
        <p:nvSpPr>
          <p:cNvPr id="15" name="Text 13"/>
          <p:cNvSpPr/>
          <p:nvPr/>
        </p:nvSpPr>
        <p:spPr>
          <a:xfrm>
            <a:off x="7924800" y="310896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plotEnrichment()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731520" y="396240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17" name="Text 15"/>
          <p:cNvSpPr/>
          <p:nvPr/>
        </p:nvSpPr>
        <p:spPr>
          <a:xfrm>
            <a:off x="1036320" y="396240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Enrichment Map</a:t>
            </a:r>
            <a:endParaRPr lang="en-US" sz="1733"/>
          </a:p>
        </p:txBody>
      </p:sp>
      <p:sp>
        <p:nvSpPr>
          <p:cNvPr id="18" name="Text 16"/>
          <p:cNvSpPr/>
          <p:nvPr/>
        </p:nvSpPr>
        <p:spPr>
          <a:xfrm>
            <a:off x="1036320" y="430377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overlapping gene sets. Reveals themes.</a:t>
            </a:r>
            <a:endParaRPr lang="en-US" sz="1467"/>
          </a:p>
        </p:txBody>
      </p:sp>
      <p:sp>
        <p:nvSpPr>
          <p:cNvPr id="19" name="Text 17"/>
          <p:cNvSpPr/>
          <p:nvPr/>
        </p:nvSpPr>
        <p:spPr>
          <a:xfrm>
            <a:off x="7924800" y="396240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enrichplot::emapplot()</a:t>
            </a:r>
            <a:endParaRPr lang="en-US" sz="1333"/>
          </a:p>
        </p:txBody>
      </p:sp>
      <p:sp>
        <p:nvSpPr>
          <p:cNvPr id="20" name="Shape 18"/>
          <p:cNvSpPr/>
          <p:nvPr/>
        </p:nvSpPr>
        <p:spPr>
          <a:xfrm>
            <a:off x="731520" y="481584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21" name="Text 19"/>
          <p:cNvSpPr/>
          <p:nvPr/>
        </p:nvSpPr>
        <p:spPr>
          <a:xfrm>
            <a:off x="1036320" y="481584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Network</a:t>
            </a:r>
            <a:endParaRPr lang="en-US" sz="1733"/>
          </a:p>
        </p:txBody>
      </p:sp>
      <p:sp>
        <p:nvSpPr>
          <p:cNvPr id="22" name="Text 20"/>
          <p:cNvSpPr/>
          <p:nvPr/>
        </p:nvSpPr>
        <p:spPr>
          <a:xfrm>
            <a:off x="1036320" y="515721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shared across terms. Identifies hub genes.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7924800" y="481584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enrichplot::cnetplot()</a:t>
            </a:r>
            <a:endParaRPr lang="en-US" sz="1333"/>
          </a:p>
        </p:txBody>
      </p:sp>
      <p:sp>
        <p:nvSpPr>
          <p:cNvPr id="24" name="Shape 22"/>
          <p:cNvSpPr/>
          <p:nvPr/>
        </p:nvSpPr>
        <p:spPr>
          <a:xfrm>
            <a:off x="731520" y="5669280"/>
            <a:ext cx="73152" cy="670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25" name="Text 23"/>
          <p:cNvSpPr/>
          <p:nvPr/>
        </p:nvSpPr>
        <p:spPr>
          <a:xfrm>
            <a:off x="1036320" y="566928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 Render</a:t>
            </a:r>
            <a:endParaRPr lang="en-US" sz="1733"/>
          </a:p>
        </p:txBody>
      </p:sp>
      <p:sp>
        <p:nvSpPr>
          <p:cNvPr id="26" name="Text 24"/>
          <p:cNvSpPr/>
          <p:nvPr/>
        </p:nvSpPr>
        <p:spPr>
          <a:xfrm>
            <a:off x="1036320" y="6010656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diagram colored by DE. Shows gene interactions.</a:t>
            </a:r>
            <a:endParaRPr lang="en-US" sz="1467"/>
          </a:p>
        </p:txBody>
      </p:sp>
      <p:sp>
        <p:nvSpPr>
          <p:cNvPr id="27" name="Text 25"/>
          <p:cNvSpPr/>
          <p:nvPr/>
        </p:nvSpPr>
        <p:spPr>
          <a:xfrm>
            <a:off x="7924800" y="5669280"/>
            <a:ext cx="3779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pathview::pathview()</a:t>
            </a:r>
            <a:endParaRPr lang="en-US" sz="1333"/>
          </a:p>
        </p:txBody>
      </p:sp>
      <p:sp>
        <p:nvSpPr>
          <p:cNvPr id="28" name="Text 26"/>
          <p:cNvSpPr/>
          <p:nvPr/>
        </p:nvSpPr>
        <p:spPr>
          <a:xfrm>
            <a:off x="731520" y="63398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enrichplot and clusterProfiler for publication-quality figures. Combine multiple views for full picture.</a:t>
            </a:r>
            <a:endParaRPr lang="en-US"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A" sz="24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Tips for Interpretation</a:t>
            </a:r>
            <a:endParaRPr lang="en-US" sz="3467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99616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8240" y="140208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for themes, not individual terms</a:t>
            </a:r>
            <a:endParaRPr lang="en-US" sz="1733"/>
          </a:p>
        </p:txBody>
      </p:sp>
      <p:sp>
        <p:nvSpPr>
          <p:cNvPr id="6" name="Text 3"/>
          <p:cNvSpPr/>
          <p:nvPr/>
        </p:nvSpPr>
        <p:spPr>
          <a:xfrm>
            <a:off x="5486400" y="14020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multiple immune terms enriched? That's more convincing than one. Cluster related results.</a:t>
            </a:r>
            <a:endParaRPr lang="en-US" sz="16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725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8240" y="2474976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gene overlap across terms</a:t>
            </a:r>
            <a:endParaRPr lang="en-US" sz="1733"/>
          </a:p>
        </p:txBody>
      </p:sp>
      <p:sp>
        <p:nvSpPr>
          <p:cNvPr id="9" name="Text 5"/>
          <p:cNvSpPr/>
          <p:nvPr/>
        </p:nvSpPr>
        <p:spPr>
          <a:xfrm>
            <a:off x="5486400" y="2474976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cnetplot/UpSet plots. If one gene drives many terms, may be artifact.</a:t>
            </a:r>
            <a:endParaRPr lang="en-US" sz="16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4540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8240" y="3547872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with orthogonal data</a:t>
            </a:r>
            <a:endParaRPr lang="en-US" sz="1733"/>
          </a:p>
        </p:txBody>
      </p:sp>
      <p:sp>
        <p:nvSpPr>
          <p:cNvPr id="12" name="Text 7"/>
          <p:cNvSpPr/>
          <p:nvPr/>
        </p:nvSpPr>
        <p:spPr>
          <a:xfrm>
            <a:off x="5486400" y="354787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protein data, literature, independent datasets. Enrichment is hypothesis-generating.</a:t>
            </a:r>
            <a:endParaRPr lang="en-US" sz="16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18304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8240" y="4620768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 biological context</a:t>
            </a:r>
            <a:endParaRPr lang="en-US" sz="1733"/>
          </a:p>
        </p:txBody>
      </p:sp>
      <p:sp>
        <p:nvSpPr>
          <p:cNvPr id="15" name="Text 9"/>
          <p:cNvSpPr/>
          <p:nvPr/>
        </p:nvSpPr>
        <p:spPr>
          <a:xfrm>
            <a:off x="5486400" y="4620768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enrichment make biological sense given your experimental system? Unexpected results need careful scrutiny.</a:t>
            </a:r>
            <a:endParaRPr lang="en-US" sz="16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9120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58240" y="5693664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methods transparently</a:t>
            </a:r>
            <a:endParaRPr lang="en-US" sz="1733"/>
          </a:p>
        </p:txBody>
      </p:sp>
      <p:sp>
        <p:nvSpPr>
          <p:cNvPr id="18" name="Text 11"/>
          <p:cNvSpPr/>
          <p:nvPr/>
        </p:nvSpPr>
        <p:spPr>
          <a:xfrm>
            <a:off x="5486400" y="5693664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Database(s), method (ORA/GSEA), ranking metric, background, correction, software versions.</a:t>
            </a:r>
            <a:endParaRPr lang="en-US"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First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RNA-seq study on GEO.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— Where RNA-seq Studies Live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005840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 Expression Omnibus) is NCBI's archive of every published gene expression study — including </a:t>
            </a: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RNA-seq experiments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full data and metadata.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91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ncbi.nlm.nih.gov/geo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'airway dexamethasone RNA-seq'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get many hits — find Himes 2014 (GSE52778, our airway dataset)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GSE entry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= study identifier. You'll see the full study description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5778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metadata table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samples they used, what conditions they compared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Code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 on control vs dex airway samples.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Day 6 Part 2 notebook. Today's analysis: 3 control vs 3 dex-treated airway samples (real Himes 2014 data).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airway count matrix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airway data as yesterday, now with control vs dex condition labels.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PyDESeq2 in 4 lines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up, fit, get results — that's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INS and other DE genes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FKBP5, DUSP1, KLF15 significantly UP in dex? (Spoiler: yes)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434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volcano plot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your DE genes at once — the iconic chart.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top DE genes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Z-scored expression patterns across all 6 samples.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7:00 PM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 — PyDESeq2 in action.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differential expression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genes that change between two groups (e.g., control vs drug treatment).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numbers per gene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fold change (how MUCH) + adjusted p-value (how CONFIDENT).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adjust for multiple testing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20,000 genes naively → 1,000 false hits. FDR fixes that.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PyDESeq2 in 4 lines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version of the gold-standard DE tool.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plots and heatmaps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visualize your DE results — top-left + top-right corners are the gold.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Weekend — The Reveal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6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4 (May 15 &amp; 16) — Single-cell RNA-seq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</a:rPr>
              <a:t>Today's analysis told us WHICH genes change in dex-treated airway cells — but bulk RNA-seq mixed all the cells together. We don't know whether dex affected EVERY cell, or only some cells.  Next weekend we'll use single-cell RNA-seq to resolve individual cell types — and ask not just WHICH genes change, but IN WHICH CELLS the changes happen.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moment scRNA-seq will earn its reputation as the most exciting tool in genomics.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finished Weekend 3 — bulk RNA-seq, end to end.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see you next Friday.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3133</Words>
  <Application>Microsoft Office PowerPoint</Application>
  <PresentationFormat>Widescreen</PresentationFormat>
  <Paragraphs>462</Paragraphs>
  <Slides>49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ADLaM Display</vt:lpstr>
      <vt:lpstr>Arial</vt:lpstr>
      <vt:lpstr>Calibri</vt:lpstr>
      <vt:lpstr>Consolas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Towards Biological Meaning:  Visualization &amp; Reporting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Heatmaps and Clustering</vt:lpstr>
      <vt:lpstr>                                                       Heatmaps and Clustering</vt:lpstr>
      <vt:lpstr>                                                    Heatmaps and Clustering</vt:lpstr>
      <vt:lpstr> Pathway &amp; Enrichment Analysis</vt:lpstr>
      <vt:lpstr>PowerPoint Presentation</vt:lpstr>
      <vt:lpstr>PowerPoint Presentation</vt:lpstr>
      <vt:lpstr>PowerPoint Presentation</vt:lpstr>
      <vt:lpstr>Gene Ontology (GO)</vt:lpstr>
      <vt:lpstr>Example of Dot Plot for Enrichment</vt:lpstr>
      <vt:lpstr>KEGG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Differential Expression</dc:title>
  <dc:subject>PptxGenJS Presentation</dc:subject>
  <dc:creator>Norah AlGhamdi</dc:creator>
  <cp:lastModifiedBy>Norah AlGhamdi</cp:lastModifiedBy>
  <cp:revision>4</cp:revision>
  <dcterms:created xsi:type="dcterms:W3CDTF">2026-05-05T12:11:09Z</dcterms:created>
  <dcterms:modified xsi:type="dcterms:W3CDTF">2026-05-09T11:49:16Z</dcterms:modified>
</cp:coreProperties>
</file>